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8288000" cy="10287000"/>
  <p:notesSz cx="6858000" cy="9144000"/>
  <p:embeddedFontLst>
    <p:embeddedFont>
      <p:font typeface="Times New Roman MT Bold" charset="1" panose="02030802070405020303"/>
      <p:regular r:id="rId59"/>
    </p:embeddedFont>
    <p:embeddedFont>
      <p:font typeface="Times New Roman MT" charset="1" panose="02030502070405020303"/>
      <p:regular r:id="rId60"/>
    </p:embeddedFont>
    <p:embeddedFont>
      <p:font typeface="Times New Roman MT Bold Italics" charset="1" panose="02030802070405090303"/>
      <p:regular r:id="rId61"/>
    </p:embeddedFont>
    <p:embeddedFont>
      <p:font typeface="Times New Roman MT Italics" charset="1" panose="02030502070405090303"/>
      <p:regular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52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53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73879" y="276316"/>
            <a:ext cx="1940243" cy="2169045"/>
          </a:xfrm>
          <a:custGeom>
            <a:avLst/>
            <a:gdLst/>
            <a:ahLst/>
            <a:cxnLst/>
            <a:rect r="r" b="b" t="t" l="l"/>
            <a:pathLst>
              <a:path h="2169045" w="1940243">
                <a:moveTo>
                  <a:pt x="0" y="0"/>
                </a:moveTo>
                <a:lnTo>
                  <a:pt x="1940242" y="0"/>
                </a:lnTo>
                <a:lnTo>
                  <a:pt x="1940242" y="2169045"/>
                </a:lnTo>
                <a:lnTo>
                  <a:pt x="0" y="2169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2361" y="3613043"/>
            <a:ext cx="16216939" cy="209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Construction of Quantum Anamorphic Evolving Dynamic Threshold Secret-Sharing Schemes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6871" y="2596234"/>
            <a:ext cx="10014010" cy="46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2"/>
              </a:lnSpc>
            </a:pPr>
            <a:r>
              <a:rPr lang="en-US" sz="262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NATIONAL INSTITUTE OF TECHNOLOGY RAIPUR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4017" y="7017231"/>
            <a:ext cx="8720104" cy="177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7"/>
              </a:lnSpc>
            </a:pPr>
            <a:r>
              <a:rPr lang="en-US" sz="274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Name : Pratibha Sikheriya  &amp; Eluri Sree Lakshmi</a:t>
            </a:r>
          </a:p>
          <a:p>
            <a:pPr algn="just">
              <a:lnSpc>
                <a:spcPts val="3377"/>
              </a:lnSpc>
            </a:pPr>
            <a:r>
              <a:rPr lang="en-US" sz="274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Roll - No : 22118075 &amp; 22118034</a:t>
            </a:r>
          </a:p>
          <a:p>
            <a:pPr algn="just">
              <a:lnSpc>
                <a:spcPts val="3377"/>
              </a:lnSpc>
            </a:pPr>
            <a:r>
              <a:rPr lang="en-US" sz="274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Semester : 7th</a:t>
            </a:r>
          </a:p>
          <a:p>
            <a:pPr algn="just" marL="0" indent="0" lvl="0">
              <a:lnSpc>
                <a:spcPts val="3377"/>
              </a:lnSpc>
            </a:pPr>
            <a:r>
              <a:rPr lang="en-US" sz="274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Branch : Information 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85109" y="7017231"/>
            <a:ext cx="5574191" cy="48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77"/>
              </a:lnSpc>
            </a:pPr>
            <a:r>
              <a:rPr lang="en-US" sz="274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Dr. Rajesh Doriya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4017" y="6384756"/>
            <a:ext cx="2409279" cy="48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77"/>
              </a:lnSpc>
            </a:pPr>
            <a:r>
              <a:rPr lang="en-US" b="true" sz="274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Presented By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5109" y="6384756"/>
            <a:ext cx="2409279" cy="48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77"/>
              </a:lnSpc>
            </a:pPr>
            <a:r>
              <a:rPr lang="en-US" b="true" sz="274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Guided By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2565768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Index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30251" y="1905141"/>
            <a:ext cx="10796969" cy="710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 &amp; motivation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definitions and preliminaries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Related work / literature review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Research gap &amp; objectives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Proposed methodology (high-level)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Construction I: QAESS (Inspiration)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Composite state construction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 1 (SHARE) 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Limitations of Construction I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Construction II (QAESS-SR) - Detailed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 2 (Dealer-message &amp; Party-key verification)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Security properties, advantages &amp; limitations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Conclusion, 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6809" y="1905141"/>
            <a:ext cx="582967" cy="7082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6.</a:t>
            </a:r>
          </a:p>
          <a:p>
            <a:pPr algn="just">
              <a:lnSpc>
                <a:spcPts val="4309"/>
              </a:lnSpc>
            </a:pPr>
          </a:p>
          <a:p>
            <a:pPr algn="just">
              <a:lnSpc>
                <a:spcPts val="4309"/>
              </a:lnSpc>
            </a:pPr>
          </a:p>
          <a:p>
            <a:pPr algn="just">
              <a:lnSpc>
                <a:spcPts val="4309"/>
              </a:lnSpc>
            </a:pP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9.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10.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4735329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537836" y="2541168"/>
            <a:ext cx="6399692" cy="4210625"/>
          </a:xfrm>
          <a:custGeom>
            <a:avLst/>
            <a:gdLst/>
            <a:ahLst/>
            <a:cxnLst/>
            <a:rect r="r" b="b" t="t" l="l"/>
            <a:pathLst>
              <a:path h="4210625" w="6399692">
                <a:moveTo>
                  <a:pt x="0" y="0"/>
                </a:moveTo>
                <a:lnTo>
                  <a:pt x="6399691" y="0"/>
                </a:lnTo>
                <a:lnTo>
                  <a:pt x="6399691" y="4210625"/>
                </a:lnTo>
                <a:lnTo>
                  <a:pt x="0" y="4210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9" t="-4226" r="0" b="-392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5904" y="2104485"/>
            <a:ext cx="10796969" cy="22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Secret Sharin</a:t>
            </a: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method to split a secret into multiple parts.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Only when enough parts (threshold) combine, the secret is revealed.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904" y="4534458"/>
            <a:ext cx="10796969" cy="22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Classical Encryption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Relies on algorithms like AES/RSA with keys for data security.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Strong but vulnerable in the quantum era.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904" y="7145405"/>
            <a:ext cx="13454072" cy="167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Quantum Secret Sharing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Shares secrets using quantum states &amp; entanglement.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stronger protection via no-cloning and quantum principles.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829815"/>
            <a:chOff x="0" y="0"/>
            <a:chExt cx="24384000" cy="37730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3399739"/>
              <a:chOff x="0" y="0"/>
              <a:chExt cx="4816593" cy="67155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671553"/>
              </a:xfrm>
              <a:custGeom>
                <a:avLst/>
                <a:gdLst/>
                <a:ahLst/>
                <a:cxnLst/>
                <a:rect r="r" b="b" t="t" l="l"/>
                <a:pathLst>
                  <a:path h="67155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71553"/>
                    </a:lnTo>
                    <a:lnTo>
                      <a:pt x="0" y="671553"/>
                    </a:lnTo>
                    <a:close/>
                  </a:path>
                </a:pathLst>
              </a:custGeom>
              <a:solidFill>
                <a:srgbClr val="9D9DE4">
                  <a:alpha val="63922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33350"/>
                <a:ext cx="4816593" cy="8049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1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438354"/>
              <a:ext cx="24384000" cy="3334733"/>
              <a:chOff x="0" y="0"/>
              <a:chExt cx="4816593" cy="6587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16592" cy="658713"/>
              </a:xfrm>
              <a:custGeom>
                <a:avLst/>
                <a:gdLst/>
                <a:ahLst/>
                <a:cxnLst/>
                <a:rect r="r" b="b" t="t" l="l"/>
                <a:pathLst>
                  <a:path h="65871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58713"/>
                    </a:lnTo>
                    <a:lnTo>
                      <a:pt x="0" y="658713"/>
                    </a:lnTo>
                    <a:close/>
                  </a:path>
                </a:pathLst>
              </a:custGeom>
              <a:solidFill>
                <a:srgbClr val="615ED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33350"/>
                <a:ext cx="4816593" cy="792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1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915695" y="6156345"/>
            <a:ext cx="6108859" cy="3086100"/>
            <a:chOff x="0" y="0"/>
            <a:chExt cx="1608918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8918" cy="812800"/>
            </a:xfrm>
            <a:custGeom>
              <a:avLst/>
              <a:gdLst/>
              <a:ahLst/>
              <a:cxnLst/>
              <a:rect r="r" b="b" t="t" l="l"/>
              <a:pathLst>
                <a:path h="812800" w="1608918">
                  <a:moveTo>
                    <a:pt x="34218" y="0"/>
                  </a:moveTo>
                  <a:lnTo>
                    <a:pt x="1574700" y="0"/>
                  </a:lnTo>
                  <a:cubicBezTo>
                    <a:pt x="1593598" y="0"/>
                    <a:pt x="1608918" y="15320"/>
                    <a:pt x="1608918" y="34218"/>
                  </a:cubicBezTo>
                  <a:lnTo>
                    <a:pt x="1608918" y="778582"/>
                  </a:lnTo>
                  <a:cubicBezTo>
                    <a:pt x="1608918" y="797480"/>
                    <a:pt x="1593598" y="812800"/>
                    <a:pt x="1574700" y="812800"/>
                  </a:cubicBezTo>
                  <a:lnTo>
                    <a:pt x="34218" y="812800"/>
                  </a:lnTo>
                  <a:cubicBezTo>
                    <a:pt x="15320" y="812800"/>
                    <a:pt x="0" y="797480"/>
                    <a:pt x="0" y="778582"/>
                  </a:cubicBezTo>
                  <a:lnTo>
                    <a:pt x="0" y="34218"/>
                  </a:lnTo>
                  <a:cubicBezTo>
                    <a:pt x="0" y="15320"/>
                    <a:pt x="15320" y="0"/>
                    <a:pt x="34218" y="0"/>
                  </a:cubicBezTo>
                  <a:close/>
                </a:path>
              </a:pathLst>
            </a:custGeom>
            <a:solidFill>
              <a:srgbClr val="7391C2">
                <a:alpha val="1960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33350"/>
              <a:ext cx="1608918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4929" y="595427"/>
            <a:ext cx="4735329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65904" y="2104485"/>
            <a:ext cx="10796969" cy="22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Evolving Secret Sharing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Extends secret sharing to dynamic systems.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New members can join and get shares without restarting the whole scheme.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5904" y="4534458"/>
            <a:ext cx="10796969" cy="22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Anamorphic Encryption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Embeds hidden/covert messages inside normal ciphertext.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Indistinguishability.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plausible deniability against powerful adversaries.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62873" y="6293806"/>
            <a:ext cx="6015274" cy="271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7829" indent="-273914" lvl="1">
              <a:lnSpc>
                <a:spcPts val="3552"/>
              </a:lnSpc>
              <a:buFont typeface="Arial"/>
              <a:buChar char="•"/>
            </a:pPr>
            <a:r>
              <a:rPr lang="en-US" b="true" sz="2537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Indistinguishability → </a:t>
            </a:r>
            <a:r>
              <a:rPr lang="en-US" sz="2537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Encrypted data looks the same to an attacker, whethe</a:t>
            </a:r>
            <a:r>
              <a:rPr lang="en-US" sz="2537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 it hides extra info or not.</a:t>
            </a:r>
          </a:p>
          <a:p>
            <a:pPr algn="just" marL="547829" indent="-273914" lvl="1">
              <a:lnSpc>
                <a:spcPts val="3552"/>
              </a:lnSpc>
              <a:buFont typeface="Arial"/>
              <a:buChar char="•"/>
            </a:pPr>
            <a:r>
              <a:rPr lang="en-US" b="true" sz="2537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Plausible Deniability → </a:t>
            </a:r>
            <a:r>
              <a:rPr lang="en-US" sz="2537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You can safely deny the presence of hidden data, and the attacker can’t prove otherwise.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13827984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Motivation (why this problem matters)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4030873" y="7188271"/>
            <a:ext cx="125440" cy="25082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22857" y="5944795"/>
            <a:ext cx="16639763" cy="2988592"/>
            <a:chOff x="0" y="0"/>
            <a:chExt cx="4382489" cy="7871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2489" cy="787119"/>
            </a:xfrm>
            <a:custGeom>
              <a:avLst/>
              <a:gdLst/>
              <a:ahLst/>
              <a:cxnLst/>
              <a:rect r="r" b="b" t="t" l="l"/>
              <a:pathLst>
                <a:path h="787119" w="4382489">
                  <a:moveTo>
                    <a:pt x="14423" y="0"/>
                  </a:moveTo>
                  <a:lnTo>
                    <a:pt x="4368066" y="0"/>
                  </a:lnTo>
                  <a:cubicBezTo>
                    <a:pt x="4376032" y="0"/>
                    <a:pt x="4382489" y="6458"/>
                    <a:pt x="4382489" y="14423"/>
                  </a:cubicBezTo>
                  <a:lnTo>
                    <a:pt x="4382489" y="772696"/>
                  </a:lnTo>
                  <a:cubicBezTo>
                    <a:pt x="4382489" y="780661"/>
                    <a:pt x="4376032" y="787119"/>
                    <a:pt x="4368066" y="787119"/>
                  </a:cubicBezTo>
                  <a:lnTo>
                    <a:pt x="14423" y="787119"/>
                  </a:lnTo>
                  <a:cubicBezTo>
                    <a:pt x="10598" y="787119"/>
                    <a:pt x="6929" y="785599"/>
                    <a:pt x="4224" y="782894"/>
                  </a:cubicBezTo>
                  <a:cubicBezTo>
                    <a:pt x="1520" y="780189"/>
                    <a:pt x="0" y="776521"/>
                    <a:pt x="0" y="772696"/>
                  </a:cubicBezTo>
                  <a:lnTo>
                    <a:pt x="0" y="14423"/>
                  </a:lnTo>
                  <a:cubicBezTo>
                    <a:pt x="0" y="6458"/>
                    <a:pt x="6458" y="0"/>
                    <a:pt x="14423" y="0"/>
                  </a:cubicBezTo>
                  <a:close/>
                </a:path>
              </a:pathLst>
            </a:custGeom>
            <a:solidFill>
              <a:srgbClr val="CBCBEB">
                <a:alpha val="4392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4382489" cy="920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4929" y="2244309"/>
            <a:ext cx="16915619" cy="330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Censorship or dictator model :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must presen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a plausible innocuous secret while secretly retaining covert data.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Real systems evolve —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new parties join over time; static threshold SS fails with quantum no-cloning constraints.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Need: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adaptive thresholds + covert embedding that doesn't increase quantum-state dimension noticeably.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9003" y="5997049"/>
            <a:ext cx="16449994" cy="276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No-Cloning Theorem →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quantum s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tate cannot be copied exactly.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Why it matters →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 secret sharing, if too few participants could reconstruct, two disjoint groups could clone the secret, violating quantum rules.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So in our project →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Thresholds must adapt with growing participants to stay consistent with no-cloning.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12462867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building blocks (preliminaries)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84929" y="2376727"/>
            <a:ext cx="13697843" cy="438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Anamorphic Encryption (AE):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two-layer ciphertexts; regular key vs anamorphic key; indistinguishabili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ty &amp; plausible deniability.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Evolving Secret Sharing (ESS):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dynamic parties over time with threshold function k(t).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Quantum Secret-Sharing (QSS) &amp; Trap Codes: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QECC + X/Z trap qubits + random permutation + Pauli one-time pad.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Counting-based SS (CBSS):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as intuition for majority/bit-count reconstruction in related classical schemes.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9025697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Related work / literature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44001" y="1973744"/>
            <a:ext cx="16799997" cy="6339513"/>
            <a:chOff x="0" y="0"/>
            <a:chExt cx="22399996" cy="845268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609693" y="48686"/>
              <a:ext cx="2503329" cy="8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71"/>
                </a:lnSpc>
              </a:pPr>
              <a:r>
                <a:rPr lang="en-US" sz="35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Reference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822788" y="48686"/>
              <a:ext cx="3469481" cy="8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71"/>
                </a:lnSpc>
              </a:pPr>
              <a:r>
                <a:rPr lang="en-US" sz="35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</a:t>
              </a:r>
              <a:r>
                <a:rPr lang="en-US" sz="35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ethodology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2088833" y="48686"/>
              <a:ext cx="3442970" cy="8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71"/>
                </a:lnSpc>
              </a:pPr>
              <a:r>
                <a:rPr lang="en-US" sz="35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</a:t>
              </a:r>
              <a:r>
                <a:rPr lang="en-US" sz="35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ey Findings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7322503" y="48686"/>
              <a:ext cx="4381106" cy="8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71"/>
                </a:lnSpc>
              </a:pPr>
              <a:r>
                <a:rPr lang="en-US" sz="35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Appl</a:t>
              </a:r>
              <a:r>
                <a:rPr lang="en-US" sz="35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ication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0" y="0"/>
          <a:ext cx="16799997" cy="6339513"/>
        </p:xfrm>
        <a:graphic>
          <a:graphicData uri="http://schemas.openxmlformats.org/drawingml/2006/table">
            <a:tbl>
              <a:tblPr/>
              <a:tblGrid>
                <a:gridCol w="4199999"/>
                <a:gridCol w="4199999"/>
                <a:gridCol w="4199999"/>
                <a:gridCol w="4199999"/>
              </a:tblGrid>
              <a:tr h="88309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</a:tr>
              <a:tr h="1622656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222222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  <a:hlinkClick r:id="rId2" action="ppaction://hlinksldjump"/>
                        </a:rPr>
                        <a:t>Chaudhury &amp; Ganguly, IEEE TCOM, 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Combines Anamorphic Encryption + Evolving Secret Sharing; uses trap codes, permutations, secret redistribution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Dynamic thresholds avoid no-cloning </a:t>
                      </a:r>
                      <a:endParaRPr lang="en-US" sz="1100"/>
                    </a:p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Secret redistribution cuts memory &amp; stops spies </a:t>
                      </a:r>
                    </a:p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Proven scalable &amp; robust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IoT updates, edge devices, autonomous vehicles, quantum internet, federated learning, covert comms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622656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  <a:hlinkClick r:id="rId2" action="ppaction://hlinksldjump"/>
                        </a:rPr>
                        <a:t>Persiano et al., EUROCRYPT 2022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Embeds normal + covert messages in ciphertext; uses anamorphic keys; ensures deniability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Works under coercion/dictator model </a:t>
                      </a:r>
                      <a:endParaRPr lang="en-US" sz="1100"/>
                    </a:p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Zero-latency covert channel </a:t>
                      </a:r>
                    </a:p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Key escrow/backdoors can’t kill privacy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Dissident/journalist comms, human rights, censorship resistance, crypto resilience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221110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Quantum Anamorphic Encryption with Dynamic Trap Codes (Ganguly, 2025)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Introduces quantum anamorphic encryption (QAE) with dynamic trap codes, </a:t>
                      </a:r>
                      <a:endParaRPr lang="en-US" sz="1100"/>
                    </a:p>
                    <a:p>
                      <a:pPr algn="just">
                        <a:lnSpc>
                          <a:spcPts val="2170"/>
                        </a:lnSpc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Ciphertext embeds both normal &amp; covert secrets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Achieves indistinguishability between normal and anamorphic ciphertexts </a:t>
                      </a:r>
                      <a:endParaRPr lang="en-US" sz="1100"/>
                    </a:p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Provides tamper detection via trap codes </a:t>
                      </a:r>
                    </a:p>
                    <a:p>
                      <a:pPr algn="just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Dynamic key evolution prevents key exhaustion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Quantum internet protocols (tamper-proof routing),Military &amp; diplomatic secrecy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9025697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Related work / literature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101831" y="1960066"/>
          <a:ext cx="16084337" cy="6070813"/>
        </p:xfrm>
        <a:graphic>
          <a:graphicData uri="http://schemas.openxmlformats.org/drawingml/2006/table">
            <a:tbl>
              <a:tblPr/>
              <a:tblGrid>
                <a:gridCol w="4021084"/>
                <a:gridCol w="4021084"/>
                <a:gridCol w="4021084"/>
                <a:gridCol w="4021084"/>
              </a:tblGrid>
              <a:tr h="8869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EDB"/>
                    </a:solidFill>
                  </a:tcPr>
                </a:tc>
              </a:tr>
              <a:tr h="10409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  <a:hlinkClick r:id="rId2" action="ppaction://hlinksldjump"/>
                        </a:rPr>
                        <a:t>IEEE (2025), 2025-370.pdf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Formal analysis of quantum-safe authentication &amp; key distribution.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Enhanced resistance to quantum attacks; integration with post-quantum primitives.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Quantum internet, secure 6G, IoT comms.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9242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  <a:hlinkClick r:id="rId2" action="ppaction://hlinksldjump"/>
                        </a:rPr>
                        <a:t>Ganguly &amp; Chaudhury (2025)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170"/>
                        </a:lnSpc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Th</a:t>
                      </a: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eoretical models &amp; proofs for quantum anamorphic encryption and secret-sharing.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Quantum ciphertexts can hide covert messages.</a:t>
                      </a:r>
                      <a:endParaRPr lang="en-US" sz="1100"/>
                    </a:p>
                    <a:p>
                      <a:pPr algn="l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Defined quantum anamorphic secret-sharing.</a:t>
                      </a:r>
                    </a:p>
                    <a:p>
                      <a:pPr algn="l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Secure against quantum adversaries.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Covert comms in q</a:t>
                      </a: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uantum networks, whistleblowing, diplomacy, hidden cloud storage.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22186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  <a:hlinkClick r:id="rId2" action="ppaction://hlinksldjump"/>
                        </a:rPr>
                        <a:t>Chu, Do, Hanzlik &amp; Thyagarajan (2025)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Formal cryptographic models combining anamorphic signatures with threshold cryptography.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 Proposed threshold-recipient anamorphic signatures.</a:t>
                      </a:r>
                      <a:endParaRPr lang="en-US" sz="1100"/>
                    </a:p>
                    <a:p>
                      <a:pPr algn="l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Showed communication possible even if dictator controls keys.</a:t>
                      </a:r>
                    </a:p>
                    <a:p>
                      <a:pPr algn="l" marL="334646" indent="-167323" lvl="1">
                        <a:lnSpc>
                          <a:spcPts val="2170"/>
                        </a:lnSpc>
                        <a:buFont typeface="Arial"/>
                        <a:buChar char="•"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Impossibility of threshold-sender schemes in many cases.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70"/>
                        </a:lnSpc>
                        <a:defRPr/>
                      </a:pPr>
                      <a:r>
                        <a:rPr lang="en-US" sz="155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Secure whistleblowing, multi-device secrecy, resistance under enforced eIDs, guidance for standards.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951271" y="1972979"/>
            <a:ext cx="1877497" cy="6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35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61093" y="1972979"/>
            <a:ext cx="2602111" cy="6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35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35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10626" y="1972979"/>
            <a:ext cx="2582228" cy="6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35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</a:t>
            </a:r>
            <a:r>
              <a:rPr lang="en-US" sz="35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ey Findings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35879" y="1972979"/>
            <a:ext cx="3285829" cy="6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1"/>
              </a:lnSpc>
            </a:pPr>
            <a:r>
              <a:rPr lang="en-US" sz="35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</a:t>
            </a:r>
            <a:r>
              <a:rPr lang="en-US" sz="35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493034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Research gap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84929" y="2061368"/>
            <a:ext cx="14526664" cy="656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1. Algebraic Integration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use of </a:t>
            </a: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Galois fields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compact permutation/Pauli generation.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Dealer memory still grows excessively with generations.</a:t>
            </a:r>
          </a:p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2. Efficiency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Prior work only provides asymptotic complexity bounds.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practical</a:t>
            </a: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time–space benchmarks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encoding, sharing, and reconstruction.</a:t>
            </a:r>
          </a:p>
          <a:p>
            <a:pPr algn="just">
              <a:lnSpc>
                <a:spcPts val="4309"/>
              </a:lnSpc>
            </a:pPr>
            <a:r>
              <a:rPr lang="en-US" sz="3078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</a:t>
            </a: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Security Verification with Hashing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Literature does not provide a unified model integrating: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Quantum attack detection (PNS, MITM, Trojan, Intercept-Resend)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Fidelity-based quantum state validation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SHA-512 cryptographic commitment for message and key integrity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comparison of security or fidelity consistency across different input types.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43677" y="6604383"/>
            <a:ext cx="276245" cy="270030"/>
          </a:xfrm>
          <a:custGeom>
            <a:avLst/>
            <a:gdLst/>
            <a:ahLst/>
            <a:cxnLst/>
            <a:rect r="r" b="b" t="t" l="l"/>
            <a:pathLst>
              <a:path h="270030" w="276245">
                <a:moveTo>
                  <a:pt x="0" y="0"/>
                </a:moveTo>
                <a:lnTo>
                  <a:pt x="276245" y="0"/>
                </a:lnTo>
                <a:lnTo>
                  <a:pt x="276245" y="270030"/>
                </a:lnTo>
                <a:lnTo>
                  <a:pt x="0" y="27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3677" y="7141014"/>
            <a:ext cx="276245" cy="270030"/>
          </a:xfrm>
          <a:custGeom>
            <a:avLst/>
            <a:gdLst/>
            <a:ahLst/>
            <a:cxnLst/>
            <a:rect r="r" b="b" t="t" l="l"/>
            <a:pathLst>
              <a:path h="270030" w="276245">
                <a:moveTo>
                  <a:pt x="0" y="0"/>
                </a:moveTo>
                <a:lnTo>
                  <a:pt x="276245" y="0"/>
                </a:lnTo>
                <a:lnTo>
                  <a:pt x="276245" y="270030"/>
                </a:lnTo>
                <a:lnTo>
                  <a:pt x="0" y="27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3677" y="7677744"/>
            <a:ext cx="276245" cy="270030"/>
          </a:xfrm>
          <a:custGeom>
            <a:avLst/>
            <a:gdLst/>
            <a:ahLst/>
            <a:cxnLst/>
            <a:rect r="r" b="b" t="t" l="l"/>
            <a:pathLst>
              <a:path h="270030" w="276245">
                <a:moveTo>
                  <a:pt x="0" y="0"/>
                </a:moveTo>
                <a:lnTo>
                  <a:pt x="276245" y="0"/>
                </a:lnTo>
                <a:lnTo>
                  <a:pt x="276245" y="270030"/>
                </a:lnTo>
                <a:lnTo>
                  <a:pt x="0" y="27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7246169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Research objectives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65904" y="2273312"/>
            <a:ext cx="15568143" cy="461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1668" indent="-350834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 </a:t>
            </a:r>
            <a:r>
              <a:rPr lang="en-US" b="true" sz="3249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Galois field–based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implementation model for compact keying and permutation/Pauli generation.</a:t>
            </a:r>
          </a:p>
          <a:p>
            <a:pPr algn="just">
              <a:lnSpc>
                <a:spcPts val="4549"/>
              </a:lnSpc>
            </a:pPr>
          </a:p>
          <a:p>
            <a:pPr algn="just" marL="701668" indent="-350834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evaluate the </a:t>
            </a:r>
            <a:r>
              <a:rPr lang="en-US" b="true" sz="3249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time–space complexity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 </a:t>
            </a:r>
            <a:r>
              <a:rPr lang="en-US" b="true" sz="3249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share generation, distribution, and reconstruction 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 evolving thresholds.</a:t>
            </a:r>
          </a:p>
          <a:p>
            <a:pPr algn="just">
              <a:lnSpc>
                <a:spcPts val="4549"/>
              </a:lnSpc>
            </a:pPr>
          </a:p>
          <a:p>
            <a:pPr algn="just" marL="701668" indent="-350834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test the </a:t>
            </a:r>
            <a:r>
              <a:rPr lang="en-US" b="true" sz="3249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security robustness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 the protocol by modeling </a:t>
            </a:r>
            <a:r>
              <a:rPr lang="en-US" b="true" sz="3249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spy-insertion attacks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under normal and redistribution policies.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7246169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Novelty of work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65904" y="2029542"/>
            <a:ext cx="15568143" cy="518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9"/>
              </a:lnSpc>
            </a:pPr>
          </a:p>
          <a:p>
            <a:pPr algn="just" marL="701668" indent="-350834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tt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mpt to move QAESS from pure theory to an implementation model.</a:t>
            </a:r>
          </a:p>
          <a:p>
            <a:pPr algn="just">
              <a:lnSpc>
                <a:spcPts val="4549"/>
              </a:lnSpc>
            </a:pPr>
          </a:p>
          <a:p>
            <a:pPr algn="just" marL="701668" indent="-350834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 e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xi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ing work 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rat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 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amorphic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en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yp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tion 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+ evolving se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 sharing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ex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ecut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 qua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nt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um circuits.</a:t>
            </a:r>
          </a:p>
          <a:p>
            <a:pPr algn="just">
              <a:lnSpc>
                <a:spcPts val="4549"/>
              </a:lnSpc>
            </a:pPr>
          </a:p>
          <a:p>
            <a:pPr algn="just" marL="701668" indent="-350834" lvl="1">
              <a:lnSpc>
                <a:spcPts val="4549"/>
              </a:lnSpc>
              <a:buFont typeface="Arial"/>
              <a:buChar char="•"/>
            </a:pP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 :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establish a proof-of-concept implementation that validates QAESS functionality under </a:t>
            </a:r>
            <a:r>
              <a:rPr lang="en-US" b="true" sz="324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fidelity and various attack analysis,</a:t>
            </a:r>
            <a:r>
              <a:rPr lang="en-US" sz="324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bridging the gap between cryptographic theory and practical quantum hardware.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659403"/>
            <a:ext cx="15856944" cy="6873683"/>
            <a:chOff x="0" y="0"/>
            <a:chExt cx="21142592" cy="916491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241683"/>
              <a:ext cx="4268198" cy="1583748"/>
              <a:chOff x="0" y="0"/>
              <a:chExt cx="843101" cy="31283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43101" cy="312839"/>
              </a:xfrm>
              <a:custGeom>
                <a:avLst/>
                <a:gdLst/>
                <a:ahLst/>
                <a:cxnLst/>
                <a:rect r="r" b="b" t="t" l="l"/>
                <a:pathLst>
                  <a:path h="312839" w="843101">
                    <a:moveTo>
                      <a:pt x="72554" y="0"/>
                    </a:moveTo>
                    <a:lnTo>
                      <a:pt x="770546" y="0"/>
                    </a:lnTo>
                    <a:cubicBezTo>
                      <a:pt x="789789" y="0"/>
                      <a:pt x="808243" y="7644"/>
                      <a:pt x="821850" y="21251"/>
                    </a:cubicBezTo>
                    <a:cubicBezTo>
                      <a:pt x="835457" y="34857"/>
                      <a:pt x="843101" y="53312"/>
                      <a:pt x="843101" y="72554"/>
                    </a:cubicBezTo>
                    <a:lnTo>
                      <a:pt x="843101" y="240285"/>
                    </a:lnTo>
                    <a:cubicBezTo>
                      <a:pt x="843101" y="280355"/>
                      <a:pt x="810617" y="312839"/>
                      <a:pt x="770546" y="312839"/>
                    </a:cubicBezTo>
                    <a:lnTo>
                      <a:pt x="72554" y="312839"/>
                    </a:lnTo>
                    <a:cubicBezTo>
                      <a:pt x="53312" y="312839"/>
                      <a:pt x="34857" y="305195"/>
                      <a:pt x="21251" y="291588"/>
                    </a:cubicBezTo>
                    <a:cubicBezTo>
                      <a:pt x="7644" y="277982"/>
                      <a:pt x="0" y="259527"/>
                      <a:pt x="0" y="240285"/>
                    </a:cubicBezTo>
                    <a:lnTo>
                      <a:pt x="0" y="72554"/>
                    </a:lnTo>
                    <a:cubicBezTo>
                      <a:pt x="0" y="32484"/>
                      <a:pt x="32484" y="0"/>
                      <a:pt x="7255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33350"/>
                <a:ext cx="843101" cy="4461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1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874394" y="4241683"/>
              <a:ext cx="4268198" cy="1583748"/>
              <a:chOff x="0" y="0"/>
              <a:chExt cx="843101" cy="31283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43101" cy="312839"/>
              </a:xfrm>
              <a:custGeom>
                <a:avLst/>
                <a:gdLst/>
                <a:ahLst/>
                <a:cxnLst/>
                <a:rect r="r" b="b" t="t" l="l"/>
                <a:pathLst>
                  <a:path h="312839" w="843101">
                    <a:moveTo>
                      <a:pt x="72554" y="0"/>
                    </a:moveTo>
                    <a:lnTo>
                      <a:pt x="770546" y="0"/>
                    </a:lnTo>
                    <a:cubicBezTo>
                      <a:pt x="789789" y="0"/>
                      <a:pt x="808243" y="7644"/>
                      <a:pt x="821850" y="21251"/>
                    </a:cubicBezTo>
                    <a:cubicBezTo>
                      <a:pt x="835457" y="34857"/>
                      <a:pt x="843101" y="53312"/>
                      <a:pt x="843101" y="72554"/>
                    </a:cubicBezTo>
                    <a:lnTo>
                      <a:pt x="843101" y="240285"/>
                    </a:lnTo>
                    <a:cubicBezTo>
                      <a:pt x="843101" y="280355"/>
                      <a:pt x="810617" y="312839"/>
                      <a:pt x="770546" y="312839"/>
                    </a:cubicBezTo>
                    <a:lnTo>
                      <a:pt x="72554" y="312839"/>
                    </a:lnTo>
                    <a:cubicBezTo>
                      <a:pt x="53312" y="312839"/>
                      <a:pt x="34857" y="305195"/>
                      <a:pt x="21251" y="291588"/>
                    </a:cubicBezTo>
                    <a:cubicBezTo>
                      <a:pt x="7644" y="277982"/>
                      <a:pt x="0" y="259527"/>
                      <a:pt x="0" y="240285"/>
                    </a:cubicBezTo>
                    <a:lnTo>
                      <a:pt x="0" y="72554"/>
                    </a:lnTo>
                    <a:cubicBezTo>
                      <a:pt x="0" y="32484"/>
                      <a:pt x="32484" y="0"/>
                      <a:pt x="7255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33350"/>
                <a:ext cx="843101" cy="4461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1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975232" y="6238100"/>
              <a:ext cx="2407600" cy="2365467"/>
            </a:xfrm>
            <a:custGeom>
              <a:avLst/>
              <a:gdLst/>
              <a:ahLst/>
              <a:cxnLst/>
              <a:rect r="r" b="b" t="t" l="l"/>
              <a:pathLst>
                <a:path h="2365467" w="2407600">
                  <a:moveTo>
                    <a:pt x="0" y="0"/>
                  </a:moveTo>
                  <a:lnTo>
                    <a:pt x="2407600" y="0"/>
                  </a:lnTo>
                  <a:lnTo>
                    <a:pt x="2407600" y="2365467"/>
                  </a:lnTo>
                  <a:lnTo>
                    <a:pt x="0" y="2365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260478" y="6238100"/>
              <a:ext cx="1673257" cy="2088308"/>
            </a:xfrm>
            <a:custGeom>
              <a:avLst/>
              <a:gdLst/>
              <a:ahLst/>
              <a:cxnLst/>
              <a:rect r="r" b="b" t="t" l="l"/>
              <a:pathLst>
                <a:path h="2088308" w="1673257">
                  <a:moveTo>
                    <a:pt x="0" y="0"/>
                  </a:moveTo>
                  <a:lnTo>
                    <a:pt x="1673257" y="0"/>
                  </a:lnTo>
                  <a:lnTo>
                    <a:pt x="1673257" y="2088308"/>
                  </a:lnTo>
                  <a:lnTo>
                    <a:pt x="0" y="2088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9329783" y="0"/>
              <a:ext cx="2797579" cy="2720646"/>
            </a:xfrm>
            <a:custGeom>
              <a:avLst/>
              <a:gdLst/>
              <a:ahLst/>
              <a:cxnLst/>
              <a:rect r="r" b="b" t="t" l="l"/>
              <a:pathLst>
                <a:path h="2720646" w="2797579">
                  <a:moveTo>
                    <a:pt x="0" y="0"/>
                  </a:moveTo>
                  <a:lnTo>
                    <a:pt x="2797579" y="0"/>
                  </a:lnTo>
                  <a:lnTo>
                    <a:pt x="2797579" y="2720646"/>
                  </a:lnTo>
                  <a:lnTo>
                    <a:pt x="0" y="2720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709621" y="3789606"/>
              <a:ext cx="4221558" cy="3146980"/>
            </a:xfrm>
            <a:custGeom>
              <a:avLst/>
              <a:gdLst/>
              <a:ahLst/>
              <a:cxnLst/>
              <a:rect r="r" b="b" t="t" l="l"/>
              <a:pathLst>
                <a:path h="3146980" w="4221558">
                  <a:moveTo>
                    <a:pt x="0" y="0"/>
                  </a:moveTo>
                  <a:lnTo>
                    <a:pt x="4221558" y="0"/>
                  </a:lnTo>
                  <a:lnTo>
                    <a:pt x="4221558" y="3146980"/>
                  </a:lnTo>
                  <a:lnTo>
                    <a:pt x="0" y="3146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5410201" y="4653110"/>
              <a:ext cx="2157416" cy="709986"/>
            </a:xfrm>
            <a:custGeom>
              <a:avLst/>
              <a:gdLst/>
              <a:ahLst/>
              <a:cxnLst/>
              <a:rect r="r" b="b" t="t" l="l"/>
              <a:pathLst>
                <a:path h="709986" w="2157416">
                  <a:moveTo>
                    <a:pt x="0" y="709986"/>
                  </a:moveTo>
                  <a:lnTo>
                    <a:pt x="2157416" y="709986"/>
                  </a:lnTo>
                  <a:lnTo>
                    <a:pt x="2157416" y="0"/>
                  </a:lnTo>
                  <a:lnTo>
                    <a:pt x="0" y="0"/>
                  </a:lnTo>
                  <a:lnTo>
                    <a:pt x="0" y="709986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true" rot="0">
              <a:off x="14074179" y="4704017"/>
              <a:ext cx="2157416" cy="709986"/>
            </a:xfrm>
            <a:custGeom>
              <a:avLst/>
              <a:gdLst/>
              <a:ahLst/>
              <a:cxnLst/>
              <a:rect r="r" b="b" t="t" l="l"/>
              <a:pathLst>
                <a:path h="709986" w="2157416">
                  <a:moveTo>
                    <a:pt x="0" y="709986"/>
                  </a:moveTo>
                  <a:lnTo>
                    <a:pt x="2157416" y="709986"/>
                  </a:lnTo>
                  <a:lnTo>
                    <a:pt x="2157416" y="0"/>
                  </a:lnTo>
                  <a:lnTo>
                    <a:pt x="0" y="0"/>
                  </a:lnTo>
                  <a:lnTo>
                    <a:pt x="0" y="709986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5400000">
              <a:off x="10602459" y="2391704"/>
              <a:ext cx="1918219" cy="877585"/>
            </a:xfrm>
            <a:custGeom>
              <a:avLst/>
              <a:gdLst/>
              <a:ahLst/>
              <a:cxnLst/>
              <a:rect r="r" b="b" t="t" l="l"/>
              <a:pathLst>
                <a:path h="877585" w="1918219">
                  <a:moveTo>
                    <a:pt x="0" y="877585"/>
                  </a:moveTo>
                  <a:lnTo>
                    <a:pt x="1918220" y="877585"/>
                  </a:lnTo>
                  <a:lnTo>
                    <a:pt x="1918220" y="0"/>
                  </a:lnTo>
                  <a:lnTo>
                    <a:pt x="0" y="0"/>
                  </a:lnTo>
                  <a:lnTo>
                    <a:pt x="0" y="877585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548316" y="3093640"/>
              <a:ext cx="2544168" cy="1965370"/>
            </a:xfrm>
            <a:custGeom>
              <a:avLst/>
              <a:gdLst/>
              <a:ahLst/>
              <a:cxnLst/>
              <a:rect r="r" b="b" t="t" l="l"/>
              <a:pathLst>
                <a:path h="1965370" w="2544168">
                  <a:moveTo>
                    <a:pt x="0" y="0"/>
                  </a:moveTo>
                  <a:lnTo>
                    <a:pt x="2544168" y="0"/>
                  </a:lnTo>
                  <a:lnTo>
                    <a:pt x="2544168" y="1965370"/>
                  </a:lnTo>
                  <a:lnTo>
                    <a:pt x="0" y="1965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975232" y="4580192"/>
              <a:ext cx="2317733" cy="782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3"/>
                </a:lnSpc>
              </a:pPr>
              <a:r>
                <a:rPr lang="en-US" sz="325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SENDER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7740352" y="4580192"/>
              <a:ext cx="3146413" cy="782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3"/>
                </a:lnSpc>
              </a:pPr>
              <a:r>
                <a:rPr lang="en-US" sz="325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RECEIVER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2137721" y="1710123"/>
              <a:ext cx="1586915" cy="782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3"/>
                </a:lnSpc>
              </a:pPr>
              <a:r>
                <a:rPr lang="en-US" sz="325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Attack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068594" y="7148904"/>
              <a:ext cx="3503612" cy="20160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23"/>
                </a:lnSpc>
              </a:pPr>
              <a:r>
                <a:rPr lang="en-US" sz="315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Message</a:t>
              </a:r>
            </a:p>
            <a:p>
              <a:pPr algn="ctr" marL="574243" indent="-287121" lvl="1">
                <a:lnSpc>
                  <a:spcPts val="3723"/>
                </a:lnSpc>
                <a:buFont typeface="Arial"/>
                <a:buChar char="•"/>
              </a:pPr>
              <a:r>
                <a:rPr lang="en-US" sz="265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Normal secret</a:t>
              </a:r>
            </a:p>
            <a:p>
              <a:pPr algn="ctr" marL="574243" indent="-287121" lvl="1">
                <a:lnSpc>
                  <a:spcPts val="3723"/>
                </a:lnSpc>
                <a:buFont typeface="Arial"/>
                <a:buChar char="•"/>
              </a:pPr>
              <a:r>
                <a:rPr lang="en-US" sz="265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Covert secre</a:t>
              </a:r>
              <a:r>
                <a:rPr lang="en-US" b="true" sz="2659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1146879" y="1443782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5712665" y="1578592"/>
            <a:ext cx="7874711" cy="7603636"/>
          </a:xfrm>
          <a:custGeom>
            <a:avLst/>
            <a:gdLst/>
            <a:ahLst/>
            <a:cxnLst/>
            <a:rect r="r" b="b" t="t" l="l"/>
            <a:pathLst>
              <a:path h="7603636" w="7874711">
                <a:moveTo>
                  <a:pt x="0" y="0"/>
                </a:moveTo>
                <a:lnTo>
                  <a:pt x="7874710" y="0"/>
                </a:lnTo>
                <a:lnTo>
                  <a:pt x="7874710" y="7603636"/>
                </a:lnTo>
                <a:lnTo>
                  <a:pt x="0" y="7603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334638"/>
            <a:ext cx="6723653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Flow Chart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12121588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Construction I: QAESS (overview)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84929" y="2401640"/>
            <a:ext cx="16474371" cy="601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Generations of parties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→ Participants join in waves G1,G2,…</a:t>
            </a:r>
          </a:p>
          <a:p>
            <a:pPr algn="just">
              <a:lnSpc>
                <a:spcPts val="4309"/>
              </a:lnSpc>
            </a:pP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Dealer’s role per generation: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–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Builds a composite state = parent secret ⊗ random state (with covert message).</a:t>
            </a:r>
          </a:p>
          <a:p>
            <a:pPr algn="just">
              <a:lnSpc>
                <a:spcPts val="4309"/>
              </a:lnSpc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–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Shares this composite state using Quantum Threshold Secret Sharing (QTSS).</a:t>
            </a:r>
          </a:p>
          <a:p>
            <a:pPr algn="just">
              <a:lnSpc>
                <a:spcPts val="4309"/>
              </a:lnSpc>
            </a:pP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Random states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Fresh states are prepared each generation; they carry the covert message and are merged with the main secret.</a:t>
            </a:r>
          </a:p>
          <a:p>
            <a:pPr algn="just">
              <a:lnSpc>
                <a:spcPts val="4309"/>
              </a:lnSpc>
            </a:pP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Tuples P = (f1, … ,fg)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Dealer keeps track of how many parties from each generation must collaborate to reconstruct the secret.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12121588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Composite state (visual + idea)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157870"/>
            <a:ext cx="14746058" cy="547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Base state → 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Encode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the normal secret with QECC: Enc(Secret).</a:t>
            </a:r>
          </a:p>
          <a:p>
            <a:pPr algn="just">
              <a:lnSpc>
                <a:spcPts val="4309"/>
              </a:lnSpc>
            </a:pP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Add traps →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Append |0⟩ (X-traps) and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|+⟩ (Z-tr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aps) fo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r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er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ror d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etection.</a:t>
            </a:r>
          </a:p>
          <a:p>
            <a:pPr algn="just">
              <a:lnSpc>
                <a:spcPts val="4309"/>
              </a:lnSpc>
            </a:pP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Permutation (σ_k1)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→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Randomly permute all qubits, mixing traps + encoded secret.</a:t>
            </a:r>
          </a:p>
          <a:p>
            <a:pPr algn="just">
              <a:lnSpc>
                <a:spcPts val="4309"/>
              </a:lnSpc>
            </a:pP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</a:t>
            </a: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auli mask (P_k2) →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Apply a quantum one-time pad for extra security.</a:t>
            </a:r>
          </a:p>
          <a:p>
            <a:pPr algn="just">
              <a:lnSpc>
                <a:spcPts val="4309"/>
              </a:lnSpc>
            </a:pP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Covert embedding → 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H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ide covert mess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age by fixing p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ermutatio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n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pa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t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t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er</a:t>
            </a:r>
            <a:r>
              <a:rPr lang="en-US" sz="3078" i="true">
                <a:solidFill>
                  <a:srgbClr val="2D388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n on some trap qubits.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9394" y="711822"/>
            <a:ext cx="17503071" cy="98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3"/>
              </a:lnSpc>
            </a:pPr>
            <a:r>
              <a:rPr lang="en-US" b="true" sz="56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1: QAESS SHARE — Purpose &amp; inputs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344145"/>
            <a:ext cx="14746058" cy="547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Purpose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distribute a quantum secret in an evolving multi-generation setting.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Embed a covert (anamorphic) message within trap qubits.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 adaptive thresholds while maintaining low dimension blow-up.</a:t>
            </a:r>
          </a:p>
          <a:p>
            <a:pPr algn="just">
              <a:lnSpc>
                <a:spcPts val="4309"/>
              </a:lnSpc>
            </a:pPr>
            <a:r>
              <a:rPr lang="en-US" sz="3078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3078" i="true">
                <a:solidFill>
                  <a:srgbClr val="2D388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nputs :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|S⟩ → Normal secret state.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|S_c⟩→ Covert secret state.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 → Current generation index.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 = (f₁,…,f_g) → Tuple of participant indices across generations.</a:t>
            </a:r>
          </a:p>
          <a:p>
            <a:pPr algn="just" marL="664616" indent="-332308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</a:t>
            </a:r>
            <a:r>
              <a:rPr lang="en-US" sz="30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Classical keys → Permutation σ, Pauli mask, trap positions (for verification).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654" y="711822"/>
            <a:ext cx="17167646" cy="98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3"/>
              </a:lnSpc>
            </a:pPr>
            <a:r>
              <a:rPr lang="en-US" b="true" sz="56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1: Step-by-step 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440983" y="2567943"/>
            <a:ext cx="15406034" cy="57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AutoNum type="arabicPeriod" startAt="1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Encode the normal secret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using quantum error-correcting code to protect it from noise and tampering.</a:t>
            </a:r>
          </a:p>
          <a:p>
            <a:pPr algn="just" marL="694362" indent="-347181" lvl="1">
              <a:lnSpc>
                <a:spcPts val="4502"/>
              </a:lnSpc>
              <a:buAutoNum type="arabicPeriod" startAt="1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trap qubits and embed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covert secret 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nside their p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ttern, without increa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 the state dimension.</a:t>
            </a:r>
          </a:p>
          <a:p>
            <a:pPr algn="just" marL="694362" indent="-347181" lvl="1">
              <a:lnSpc>
                <a:spcPts val="4502"/>
              </a:lnSpc>
              <a:buAutoNum type="arabicPeriod" startAt="1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Apply a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global permutation and Pauli masking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hide both the s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ecret and trap positions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from any observer.</a:t>
            </a:r>
          </a:p>
          <a:p>
            <a:pPr algn="just" marL="694362" indent="-347181" lvl="1">
              <a:lnSpc>
                <a:spcPts val="4502"/>
              </a:lnSpc>
              <a:buAutoNum type="arabicPeriod" startAt="1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Generate per-party quantum shares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using threshold secret sharing so only an authorized group can reconstruct the secret.</a:t>
            </a:r>
          </a:p>
          <a:p>
            <a:pPr algn="just" marL="694362" indent="-347181" lvl="1">
              <a:lnSpc>
                <a:spcPts val="4502"/>
              </a:lnSpc>
              <a:buAutoNum type="arabicPeriod" startAt="1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Distribute final composite 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hares across generations, allowing the system to evolve securely as new participants join.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9951184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Limitations (Construction I)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84929" y="2612977"/>
            <a:ext cx="15406034" cy="347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2"/>
              </a:lnSpc>
            </a:pP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Li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tations :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Dealer memory grows exponen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tiall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 ge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ner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tion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 → must store many permutations &amp; Pauli keys.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                           </a:t>
            </a:r>
          </a:p>
          <a:p>
            <a:pPr algn="just">
              <a:lnSpc>
                <a:spcPts val="4502"/>
              </a:lnSpc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Share state dimension increases rapidly: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50046" y="6253873"/>
            <a:ext cx="6187909" cy="720286"/>
          </a:xfrm>
          <a:custGeom>
            <a:avLst/>
            <a:gdLst/>
            <a:ahLst/>
            <a:cxnLst/>
            <a:rect r="r" b="b" t="t" l="l"/>
            <a:pathLst>
              <a:path h="720286" w="6187909">
                <a:moveTo>
                  <a:pt x="0" y="0"/>
                </a:moveTo>
                <a:lnTo>
                  <a:pt x="6187908" y="0"/>
                </a:lnTo>
                <a:lnTo>
                  <a:pt x="6187908" y="720285"/>
                </a:lnTo>
                <a:lnTo>
                  <a:pt x="0" y="72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32637" y="4619322"/>
            <a:ext cx="3222726" cy="524178"/>
          </a:xfrm>
          <a:custGeom>
            <a:avLst/>
            <a:gdLst/>
            <a:ahLst/>
            <a:cxnLst/>
            <a:rect r="r" b="b" t="t" l="l"/>
            <a:pathLst>
              <a:path h="524178" w="3222726">
                <a:moveTo>
                  <a:pt x="0" y="0"/>
                </a:moveTo>
                <a:lnTo>
                  <a:pt x="3222726" y="0"/>
                </a:lnTo>
                <a:lnTo>
                  <a:pt x="3222726" y="524178"/>
                </a:lnTo>
                <a:lnTo>
                  <a:pt x="0" y="524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16154168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Construction-2 Replaces Construction-1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12184" y="2488770"/>
            <a:ext cx="15406034" cy="57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2"/>
              </a:lnSpc>
            </a:pP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Construction-1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rebuilds a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full parent composite state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every generation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causing the dealer’s memory and re-distribution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cost to grow exponentially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Each new generation depends on recreating and storing all previous shares, making the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secure but impractical.</a:t>
            </a:r>
          </a:p>
          <a:p>
            <a:pPr algn="just">
              <a:lnSpc>
                <a:spcPts val="4502"/>
              </a:lnSpc>
            </a:pPr>
          </a:p>
          <a:p>
            <a:pPr algn="just">
              <a:lnSpc>
                <a:spcPts val="4502"/>
              </a:lnSpc>
            </a:pP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Construction-2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replaces this with a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parent–child redistribution flow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where each party simply updates its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own share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passes a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small child-share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the next generation. This removes global recomputation and r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educes memory from exponential to linear,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enabling scalable multi-generation sharing while still keeping covert security intact.</a:t>
            </a:r>
          </a:p>
          <a:p>
            <a:pPr algn="just">
              <a:lnSpc>
                <a:spcPts val="4502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84929" y="2612977"/>
            <a:ext cx="15406034" cy="347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Construction-2 is introduced to replace the heavy, non-scalable behaviour of Construction-1.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keeps the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same covert + anamorphic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guarantees but redesigns how shares evolve across generations.</a:t>
            </a:r>
          </a:p>
          <a:p>
            <a:pPr algn="just">
              <a:lnSpc>
                <a:spcPts val="4502"/>
              </a:lnSpc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ore Innovation: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68906" y="6319823"/>
            <a:ext cx="13550188" cy="847962"/>
          </a:xfrm>
          <a:custGeom>
            <a:avLst/>
            <a:gdLst/>
            <a:ahLst/>
            <a:cxnLst/>
            <a:rect r="r" b="b" t="t" l="l"/>
            <a:pathLst>
              <a:path h="847962" w="13550188">
                <a:moveTo>
                  <a:pt x="0" y="0"/>
                </a:moveTo>
                <a:lnTo>
                  <a:pt x="13550188" y="0"/>
                </a:lnTo>
                <a:lnTo>
                  <a:pt x="13550188" y="847962"/>
                </a:lnTo>
                <a:lnTo>
                  <a:pt x="0" y="84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802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2504" y="562089"/>
            <a:ext cx="1087785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Construction-2 (QAESS-SR)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32504" y="562089"/>
            <a:ext cx="8431045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Construction - 2?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61068"/>
            <a:ext cx="15406034" cy="464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Construction-1 becomes expensive as generations grow.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Construction-2 fixes this by restructuring the protocol.</a:t>
            </a:r>
          </a:p>
          <a:p>
            <a:pPr algn="just">
              <a:lnSpc>
                <a:spcPts val="4502"/>
              </a:lnSpc>
            </a:pPr>
          </a:p>
          <a:p>
            <a:pPr algn="just" marL="737541" indent="-368770" lvl="1">
              <a:lnSpc>
                <a:spcPts val="4782"/>
              </a:lnSpc>
              <a:buFont typeface="Arial"/>
              <a:buChar char="•"/>
            </a:pPr>
            <a:r>
              <a:rPr lang="en-US" b="true" sz="34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Addresses core problems: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1. Exponential dealer memory → Linear memory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2.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Rapidly growing share dimension → Linear dimension O(I)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3.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Heavy recomputation → Local updates only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4.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Unsustainable f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g-ru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 systems → Fully scalable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932365" y="1784563"/>
            <a:ext cx="8423269" cy="7447720"/>
            <a:chOff x="0" y="0"/>
            <a:chExt cx="11231026" cy="99302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1026" cy="9883303"/>
            </a:xfrm>
            <a:custGeom>
              <a:avLst/>
              <a:gdLst/>
              <a:ahLst/>
              <a:cxnLst/>
              <a:rect r="r" b="b" t="t" l="l"/>
              <a:pathLst>
                <a:path h="9883303" w="11231026">
                  <a:moveTo>
                    <a:pt x="0" y="0"/>
                  </a:moveTo>
                  <a:lnTo>
                    <a:pt x="11231026" y="0"/>
                  </a:lnTo>
                  <a:lnTo>
                    <a:pt x="11231026" y="9883303"/>
                  </a:lnTo>
                  <a:lnTo>
                    <a:pt x="0" y="9883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455028" y="9108603"/>
              <a:ext cx="1400810" cy="821690"/>
              <a:chOff x="0" y="0"/>
              <a:chExt cx="1400810" cy="8216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50800" y="49702"/>
                <a:ext cx="1298900" cy="721861"/>
              </a:xfrm>
              <a:custGeom>
                <a:avLst/>
                <a:gdLst/>
                <a:ahLst/>
                <a:cxnLst/>
                <a:rect r="r" b="b" t="t" l="l"/>
                <a:pathLst>
                  <a:path h="721861" w="1298900">
                    <a:moveTo>
                      <a:pt x="0" y="191598"/>
                    </a:moveTo>
                    <a:cubicBezTo>
                      <a:pt x="46990" y="87458"/>
                      <a:pt x="110490" y="79838"/>
                      <a:pt x="147320" y="84918"/>
                    </a:cubicBezTo>
                    <a:cubicBezTo>
                      <a:pt x="179070" y="88728"/>
                      <a:pt x="203200" y="107778"/>
                      <a:pt x="232410" y="123018"/>
                    </a:cubicBezTo>
                    <a:cubicBezTo>
                      <a:pt x="265430" y="139528"/>
                      <a:pt x="302260" y="162388"/>
                      <a:pt x="335280" y="180168"/>
                    </a:cubicBezTo>
                    <a:cubicBezTo>
                      <a:pt x="367030" y="197948"/>
                      <a:pt x="397510" y="215728"/>
                      <a:pt x="425450" y="232238"/>
                    </a:cubicBezTo>
                    <a:cubicBezTo>
                      <a:pt x="450850" y="247478"/>
                      <a:pt x="487680" y="281768"/>
                      <a:pt x="495300" y="276688"/>
                    </a:cubicBezTo>
                    <a:cubicBezTo>
                      <a:pt x="500380" y="272878"/>
                      <a:pt x="492760" y="256368"/>
                      <a:pt x="491490" y="242398"/>
                    </a:cubicBezTo>
                    <a:cubicBezTo>
                      <a:pt x="491490" y="220808"/>
                      <a:pt x="488950" y="186518"/>
                      <a:pt x="494030" y="156038"/>
                    </a:cubicBezTo>
                    <a:cubicBezTo>
                      <a:pt x="500380" y="121748"/>
                      <a:pt x="509270" y="74758"/>
                      <a:pt x="530860" y="48088"/>
                    </a:cubicBezTo>
                    <a:cubicBezTo>
                      <a:pt x="552450" y="23958"/>
                      <a:pt x="594360" y="4908"/>
                      <a:pt x="623570" y="1098"/>
                    </a:cubicBezTo>
                    <a:cubicBezTo>
                      <a:pt x="650240" y="-2712"/>
                      <a:pt x="676910" y="3638"/>
                      <a:pt x="699770" y="16338"/>
                    </a:cubicBezTo>
                    <a:cubicBezTo>
                      <a:pt x="726440" y="30308"/>
                      <a:pt x="746760" y="64598"/>
                      <a:pt x="768350" y="88728"/>
                    </a:cubicBezTo>
                    <a:cubicBezTo>
                      <a:pt x="787400" y="110318"/>
                      <a:pt x="802640" y="134448"/>
                      <a:pt x="820420" y="154768"/>
                    </a:cubicBezTo>
                    <a:cubicBezTo>
                      <a:pt x="836930" y="175088"/>
                      <a:pt x="867410" y="211918"/>
                      <a:pt x="871220" y="210648"/>
                    </a:cubicBezTo>
                    <a:cubicBezTo>
                      <a:pt x="871220" y="210648"/>
                      <a:pt x="871220" y="210648"/>
                      <a:pt x="871220" y="209378"/>
                    </a:cubicBezTo>
                    <a:cubicBezTo>
                      <a:pt x="872490" y="208108"/>
                      <a:pt x="873760" y="203028"/>
                      <a:pt x="873760" y="200488"/>
                    </a:cubicBezTo>
                    <a:cubicBezTo>
                      <a:pt x="875030" y="199218"/>
                      <a:pt x="876300" y="197948"/>
                      <a:pt x="877570" y="196678"/>
                    </a:cubicBezTo>
                    <a:cubicBezTo>
                      <a:pt x="877570" y="195408"/>
                      <a:pt x="878840" y="194138"/>
                      <a:pt x="878840" y="192868"/>
                    </a:cubicBezTo>
                    <a:cubicBezTo>
                      <a:pt x="880110" y="190328"/>
                      <a:pt x="883920" y="187788"/>
                      <a:pt x="885190" y="185248"/>
                    </a:cubicBezTo>
                    <a:cubicBezTo>
                      <a:pt x="887730" y="182708"/>
                      <a:pt x="890270" y="180168"/>
                      <a:pt x="891540" y="177628"/>
                    </a:cubicBezTo>
                    <a:cubicBezTo>
                      <a:pt x="892810" y="176358"/>
                      <a:pt x="894080" y="176358"/>
                      <a:pt x="895350" y="175088"/>
                    </a:cubicBezTo>
                    <a:cubicBezTo>
                      <a:pt x="896620" y="173818"/>
                      <a:pt x="897890" y="172548"/>
                      <a:pt x="899160" y="171278"/>
                    </a:cubicBezTo>
                    <a:cubicBezTo>
                      <a:pt x="900430" y="170008"/>
                      <a:pt x="904240" y="168738"/>
                      <a:pt x="906780" y="167468"/>
                    </a:cubicBezTo>
                    <a:cubicBezTo>
                      <a:pt x="909320" y="166198"/>
                      <a:pt x="913130" y="163658"/>
                      <a:pt x="915670" y="162388"/>
                    </a:cubicBezTo>
                    <a:cubicBezTo>
                      <a:pt x="916940" y="161118"/>
                      <a:pt x="918210" y="161118"/>
                      <a:pt x="919480" y="161118"/>
                    </a:cubicBezTo>
                    <a:cubicBezTo>
                      <a:pt x="920750" y="159848"/>
                      <a:pt x="922020" y="158578"/>
                      <a:pt x="923290" y="158578"/>
                    </a:cubicBezTo>
                    <a:cubicBezTo>
                      <a:pt x="925830" y="157308"/>
                      <a:pt x="929640" y="157308"/>
                      <a:pt x="933450" y="157308"/>
                    </a:cubicBezTo>
                    <a:cubicBezTo>
                      <a:pt x="935990" y="156038"/>
                      <a:pt x="939800" y="154768"/>
                      <a:pt x="942340" y="154768"/>
                    </a:cubicBezTo>
                    <a:cubicBezTo>
                      <a:pt x="943610" y="154768"/>
                      <a:pt x="946150" y="154768"/>
                      <a:pt x="947420" y="154768"/>
                    </a:cubicBezTo>
                    <a:cubicBezTo>
                      <a:pt x="948690" y="154768"/>
                      <a:pt x="949960" y="153498"/>
                      <a:pt x="951230" y="153498"/>
                    </a:cubicBezTo>
                    <a:cubicBezTo>
                      <a:pt x="955040" y="154768"/>
                      <a:pt x="957580" y="154768"/>
                      <a:pt x="961390" y="156038"/>
                    </a:cubicBezTo>
                    <a:cubicBezTo>
                      <a:pt x="963930" y="156038"/>
                      <a:pt x="967740" y="156038"/>
                      <a:pt x="970280" y="156038"/>
                    </a:cubicBezTo>
                    <a:cubicBezTo>
                      <a:pt x="972820" y="156038"/>
                      <a:pt x="974090" y="157308"/>
                      <a:pt x="975360" y="158578"/>
                    </a:cubicBezTo>
                    <a:cubicBezTo>
                      <a:pt x="976630" y="158578"/>
                      <a:pt x="977900" y="158578"/>
                      <a:pt x="979170" y="158578"/>
                    </a:cubicBezTo>
                    <a:cubicBezTo>
                      <a:pt x="981710" y="159848"/>
                      <a:pt x="985520" y="162388"/>
                      <a:pt x="988060" y="163658"/>
                    </a:cubicBezTo>
                    <a:cubicBezTo>
                      <a:pt x="989330" y="163658"/>
                      <a:pt x="989330" y="164928"/>
                      <a:pt x="991870" y="164928"/>
                    </a:cubicBezTo>
                    <a:cubicBezTo>
                      <a:pt x="1002030" y="164928"/>
                      <a:pt x="1056640" y="139528"/>
                      <a:pt x="1085850" y="142068"/>
                    </a:cubicBezTo>
                    <a:cubicBezTo>
                      <a:pt x="1113790" y="144608"/>
                      <a:pt x="1140460" y="163658"/>
                      <a:pt x="1167130" y="178898"/>
                    </a:cubicBezTo>
                    <a:cubicBezTo>
                      <a:pt x="1195070" y="195408"/>
                      <a:pt x="1225550" y="215728"/>
                      <a:pt x="1245870" y="241128"/>
                    </a:cubicBezTo>
                    <a:cubicBezTo>
                      <a:pt x="1267460" y="266528"/>
                      <a:pt x="1285240" y="302088"/>
                      <a:pt x="1292860" y="332568"/>
                    </a:cubicBezTo>
                    <a:cubicBezTo>
                      <a:pt x="1300480" y="357968"/>
                      <a:pt x="1299210" y="384638"/>
                      <a:pt x="1297940" y="410038"/>
                    </a:cubicBezTo>
                    <a:cubicBezTo>
                      <a:pt x="1296670" y="436708"/>
                      <a:pt x="1295400" y="460838"/>
                      <a:pt x="1287780" y="490048"/>
                    </a:cubicBezTo>
                    <a:cubicBezTo>
                      <a:pt x="1277620" y="526878"/>
                      <a:pt x="1256030" y="578948"/>
                      <a:pt x="1234440" y="611968"/>
                    </a:cubicBezTo>
                    <a:cubicBezTo>
                      <a:pt x="1217930" y="638638"/>
                      <a:pt x="1203960" y="660228"/>
                      <a:pt x="1176020" y="676738"/>
                    </a:cubicBezTo>
                    <a:cubicBezTo>
                      <a:pt x="1135380" y="700868"/>
                      <a:pt x="1045210" y="719918"/>
                      <a:pt x="995680" y="719918"/>
                    </a:cubicBezTo>
                    <a:cubicBezTo>
                      <a:pt x="961390" y="721188"/>
                      <a:pt x="932180" y="709758"/>
                      <a:pt x="909320" y="700868"/>
                    </a:cubicBezTo>
                    <a:cubicBezTo>
                      <a:pt x="891540" y="693248"/>
                      <a:pt x="873760" y="670388"/>
                      <a:pt x="866140" y="672928"/>
                    </a:cubicBezTo>
                    <a:cubicBezTo>
                      <a:pt x="862330" y="675468"/>
                      <a:pt x="867410" y="688168"/>
                      <a:pt x="861060" y="693248"/>
                    </a:cubicBezTo>
                    <a:cubicBezTo>
                      <a:pt x="845820" y="707218"/>
                      <a:pt x="778510" y="716108"/>
                      <a:pt x="741680" y="719918"/>
                    </a:cubicBezTo>
                    <a:cubicBezTo>
                      <a:pt x="708660" y="723728"/>
                      <a:pt x="678180" y="721188"/>
                      <a:pt x="648970" y="718648"/>
                    </a:cubicBezTo>
                    <a:cubicBezTo>
                      <a:pt x="618490" y="716108"/>
                      <a:pt x="586740" y="713568"/>
                      <a:pt x="561340" y="703408"/>
                    </a:cubicBezTo>
                    <a:cubicBezTo>
                      <a:pt x="535940" y="693248"/>
                      <a:pt x="518160" y="674198"/>
                      <a:pt x="495300" y="658958"/>
                    </a:cubicBezTo>
                    <a:cubicBezTo>
                      <a:pt x="469900" y="642448"/>
                      <a:pt x="440690" y="623398"/>
                      <a:pt x="414020" y="606888"/>
                    </a:cubicBezTo>
                    <a:cubicBezTo>
                      <a:pt x="389890" y="591648"/>
                      <a:pt x="360680" y="581488"/>
                      <a:pt x="341630" y="564978"/>
                    </a:cubicBezTo>
                    <a:cubicBezTo>
                      <a:pt x="325120" y="552278"/>
                      <a:pt x="321310" y="530688"/>
                      <a:pt x="303530" y="520528"/>
                    </a:cubicBezTo>
                    <a:cubicBezTo>
                      <a:pt x="280670" y="507828"/>
                      <a:pt x="231140" y="507828"/>
                      <a:pt x="210820" y="504018"/>
                    </a:cubicBezTo>
                    <a:cubicBezTo>
                      <a:pt x="203200" y="501478"/>
                      <a:pt x="191770" y="498938"/>
                      <a:pt x="191770" y="498938"/>
                    </a:cubicBezTo>
                    <a:cubicBezTo>
                      <a:pt x="191770" y="498938"/>
                      <a:pt x="186690" y="495128"/>
                      <a:pt x="184150" y="493858"/>
                    </a:cubicBezTo>
                    <a:cubicBezTo>
                      <a:pt x="180340" y="491318"/>
                      <a:pt x="175260" y="487508"/>
                      <a:pt x="175260" y="487508"/>
                    </a:cubicBezTo>
                    <a:cubicBezTo>
                      <a:pt x="175260" y="487508"/>
                      <a:pt x="170180" y="482428"/>
                      <a:pt x="168910" y="479888"/>
                    </a:cubicBezTo>
                    <a:cubicBezTo>
                      <a:pt x="166370" y="477348"/>
                      <a:pt x="161290" y="472268"/>
                      <a:pt x="161290" y="472268"/>
                    </a:cubicBezTo>
                    <a:cubicBezTo>
                      <a:pt x="161290" y="472268"/>
                      <a:pt x="158750" y="465918"/>
                      <a:pt x="156210" y="463378"/>
                    </a:cubicBezTo>
                    <a:cubicBezTo>
                      <a:pt x="154940" y="459568"/>
                      <a:pt x="152400" y="454488"/>
                      <a:pt x="152400" y="454488"/>
                    </a:cubicBezTo>
                    <a:cubicBezTo>
                      <a:pt x="152400" y="453218"/>
                      <a:pt x="149860" y="446868"/>
                      <a:pt x="149860" y="444328"/>
                    </a:cubicBezTo>
                    <a:cubicBezTo>
                      <a:pt x="148590" y="440518"/>
                      <a:pt x="147320" y="434168"/>
                      <a:pt x="147320" y="434168"/>
                    </a:cubicBezTo>
                    <a:cubicBezTo>
                      <a:pt x="147320" y="434168"/>
                      <a:pt x="147320" y="426548"/>
                      <a:pt x="147320" y="424008"/>
                    </a:cubicBezTo>
                    <a:cubicBezTo>
                      <a:pt x="147320" y="420198"/>
                      <a:pt x="147320" y="413848"/>
                      <a:pt x="147320" y="413848"/>
                    </a:cubicBezTo>
                    <a:cubicBezTo>
                      <a:pt x="147320" y="412578"/>
                      <a:pt x="148590" y="406228"/>
                      <a:pt x="149860" y="403688"/>
                    </a:cubicBezTo>
                    <a:cubicBezTo>
                      <a:pt x="149860" y="399878"/>
                      <a:pt x="152400" y="398608"/>
                      <a:pt x="151130" y="394798"/>
                    </a:cubicBezTo>
                    <a:cubicBezTo>
                      <a:pt x="147320" y="378288"/>
                      <a:pt x="71120" y="303358"/>
                      <a:pt x="44450" y="265258"/>
                    </a:cubicBezTo>
                    <a:cubicBezTo>
                      <a:pt x="25400" y="238588"/>
                      <a:pt x="0" y="191598"/>
                      <a:pt x="0" y="191598"/>
                    </a:cubicBezTo>
                    <a:moveTo>
                      <a:pt x="441960" y="342728"/>
                    </a:moveTo>
                    <a:cubicBezTo>
                      <a:pt x="443230" y="342728"/>
                      <a:pt x="443230" y="342728"/>
                      <a:pt x="443230" y="342728"/>
                    </a:cubicBezTo>
                    <a:cubicBezTo>
                      <a:pt x="443230" y="342728"/>
                      <a:pt x="441960" y="342728"/>
                      <a:pt x="441960" y="342728"/>
                    </a:cubicBezTo>
                    <a:moveTo>
                      <a:pt x="660400" y="272878"/>
                    </a:moveTo>
                    <a:cubicBezTo>
                      <a:pt x="693420" y="284308"/>
                      <a:pt x="725170" y="318598"/>
                      <a:pt x="741680" y="337648"/>
                    </a:cubicBezTo>
                    <a:cubicBezTo>
                      <a:pt x="753110" y="350348"/>
                      <a:pt x="758190" y="368128"/>
                      <a:pt x="768350" y="373208"/>
                    </a:cubicBezTo>
                    <a:cubicBezTo>
                      <a:pt x="775970" y="377018"/>
                      <a:pt x="792480" y="378288"/>
                      <a:pt x="795020" y="373208"/>
                    </a:cubicBezTo>
                    <a:cubicBezTo>
                      <a:pt x="800100" y="363048"/>
                      <a:pt x="749300" y="309708"/>
                      <a:pt x="726440" y="283038"/>
                    </a:cubicBezTo>
                    <a:cubicBezTo>
                      <a:pt x="707390" y="261448"/>
                      <a:pt x="683260" y="238588"/>
                      <a:pt x="671830" y="225888"/>
                    </a:cubicBezTo>
                    <a:cubicBezTo>
                      <a:pt x="666750" y="220808"/>
                      <a:pt x="662940" y="211918"/>
                      <a:pt x="661670" y="213188"/>
                    </a:cubicBezTo>
                    <a:cubicBezTo>
                      <a:pt x="656590" y="214458"/>
                      <a:pt x="660400" y="272878"/>
                      <a:pt x="660400" y="272878"/>
                    </a:cubicBezTo>
                    <a:moveTo>
                      <a:pt x="939800" y="539578"/>
                    </a:moveTo>
                    <a:cubicBezTo>
                      <a:pt x="1055370" y="562438"/>
                      <a:pt x="1101090" y="528148"/>
                      <a:pt x="1112520" y="514178"/>
                    </a:cubicBezTo>
                    <a:cubicBezTo>
                      <a:pt x="1116330" y="507828"/>
                      <a:pt x="1116330" y="498938"/>
                      <a:pt x="1116330" y="498938"/>
                    </a:cubicBezTo>
                    <a:cubicBezTo>
                      <a:pt x="1116330" y="498938"/>
                      <a:pt x="1113790" y="504018"/>
                      <a:pt x="1113790" y="504018"/>
                    </a:cubicBezTo>
                    <a:cubicBezTo>
                      <a:pt x="1113790" y="504018"/>
                      <a:pt x="1108710" y="509098"/>
                      <a:pt x="1107440" y="511638"/>
                    </a:cubicBezTo>
                    <a:cubicBezTo>
                      <a:pt x="1104900" y="514178"/>
                      <a:pt x="1099820" y="519258"/>
                      <a:pt x="1099820" y="519258"/>
                    </a:cubicBezTo>
                    <a:cubicBezTo>
                      <a:pt x="1099820" y="519258"/>
                      <a:pt x="1094740" y="523068"/>
                      <a:pt x="1092200" y="524338"/>
                    </a:cubicBezTo>
                    <a:cubicBezTo>
                      <a:pt x="1089660" y="526878"/>
                      <a:pt x="1083310" y="530688"/>
                      <a:pt x="1083310" y="530688"/>
                    </a:cubicBezTo>
                    <a:cubicBezTo>
                      <a:pt x="1083310" y="530688"/>
                      <a:pt x="1076960" y="533228"/>
                      <a:pt x="1074420" y="533228"/>
                    </a:cubicBezTo>
                    <a:cubicBezTo>
                      <a:pt x="1070610" y="534498"/>
                      <a:pt x="1065530" y="537038"/>
                      <a:pt x="1064260" y="537038"/>
                    </a:cubicBezTo>
                    <a:cubicBezTo>
                      <a:pt x="1064260" y="537038"/>
                      <a:pt x="1057910" y="538308"/>
                      <a:pt x="1055370" y="538308"/>
                    </a:cubicBezTo>
                    <a:cubicBezTo>
                      <a:pt x="1051560" y="539578"/>
                      <a:pt x="1045210" y="539578"/>
                      <a:pt x="1045210" y="539578"/>
                    </a:cubicBezTo>
                    <a:cubicBezTo>
                      <a:pt x="1045210" y="539578"/>
                      <a:pt x="939800" y="539578"/>
                      <a:pt x="939800" y="539578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TextBox 13" id="13"/>
          <p:cNvSpPr txBox="true"/>
          <p:nvPr/>
        </p:nvSpPr>
        <p:spPr>
          <a:xfrm rot="0">
            <a:off x="432504" y="562089"/>
            <a:ext cx="15333149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Construction-2 (QAESS-SR) Flow Chart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273636" y="8616015"/>
            <a:ext cx="1050608" cy="616268"/>
            <a:chOff x="0" y="0"/>
            <a:chExt cx="1400810" cy="82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800" y="49702"/>
              <a:ext cx="1298900" cy="721861"/>
            </a:xfrm>
            <a:custGeom>
              <a:avLst/>
              <a:gdLst/>
              <a:ahLst/>
              <a:cxnLst/>
              <a:rect r="r" b="b" t="t" l="l"/>
              <a:pathLst>
                <a:path h="721861" w="1298900">
                  <a:moveTo>
                    <a:pt x="0" y="191598"/>
                  </a:moveTo>
                  <a:cubicBezTo>
                    <a:pt x="46990" y="87458"/>
                    <a:pt x="110490" y="79838"/>
                    <a:pt x="147320" y="84918"/>
                  </a:cubicBezTo>
                  <a:cubicBezTo>
                    <a:pt x="179070" y="88728"/>
                    <a:pt x="203200" y="107778"/>
                    <a:pt x="232410" y="123018"/>
                  </a:cubicBezTo>
                  <a:cubicBezTo>
                    <a:pt x="265430" y="139528"/>
                    <a:pt x="302260" y="162388"/>
                    <a:pt x="335280" y="180168"/>
                  </a:cubicBezTo>
                  <a:cubicBezTo>
                    <a:pt x="367030" y="197948"/>
                    <a:pt x="397510" y="215728"/>
                    <a:pt x="425450" y="232238"/>
                  </a:cubicBezTo>
                  <a:cubicBezTo>
                    <a:pt x="450850" y="247478"/>
                    <a:pt x="487680" y="281768"/>
                    <a:pt x="495300" y="276688"/>
                  </a:cubicBezTo>
                  <a:cubicBezTo>
                    <a:pt x="500380" y="272878"/>
                    <a:pt x="492760" y="256368"/>
                    <a:pt x="491490" y="242398"/>
                  </a:cubicBezTo>
                  <a:cubicBezTo>
                    <a:pt x="491490" y="220808"/>
                    <a:pt x="488950" y="186518"/>
                    <a:pt x="494030" y="156038"/>
                  </a:cubicBezTo>
                  <a:cubicBezTo>
                    <a:pt x="500380" y="121748"/>
                    <a:pt x="509270" y="74758"/>
                    <a:pt x="530860" y="48088"/>
                  </a:cubicBezTo>
                  <a:cubicBezTo>
                    <a:pt x="552450" y="23958"/>
                    <a:pt x="594360" y="4908"/>
                    <a:pt x="623570" y="1098"/>
                  </a:cubicBezTo>
                  <a:cubicBezTo>
                    <a:pt x="650240" y="-2712"/>
                    <a:pt x="676910" y="3638"/>
                    <a:pt x="699770" y="16338"/>
                  </a:cubicBezTo>
                  <a:cubicBezTo>
                    <a:pt x="726440" y="30308"/>
                    <a:pt x="746760" y="64598"/>
                    <a:pt x="768350" y="88728"/>
                  </a:cubicBezTo>
                  <a:cubicBezTo>
                    <a:pt x="787400" y="110318"/>
                    <a:pt x="802640" y="134448"/>
                    <a:pt x="820420" y="154768"/>
                  </a:cubicBezTo>
                  <a:cubicBezTo>
                    <a:pt x="836930" y="175088"/>
                    <a:pt x="867410" y="211918"/>
                    <a:pt x="871220" y="210648"/>
                  </a:cubicBezTo>
                  <a:cubicBezTo>
                    <a:pt x="871220" y="210648"/>
                    <a:pt x="871220" y="210648"/>
                    <a:pt x="871220" y="209378"/>
                  </a:cubicBezTo>
                  <a:cubicBezTo>
                    <a:pt x="872490" y="208108"/>
                    <a:pt x="873760" y="203028"/>
                    <a:pt x="873760" y="200488"/>
                  </a:cubicBezTo>
                  <a:cubicBezTo>
                    <a:pt x="875030" y="199218"/>
                    <a:pt x="876300" y="197948"/>
                    <a:pt x="877570" y="196678"/>
                  </a:cubicBezTo>
                  <a:cubicBezTo>
                    <a:pt x="877570" y="195408"/>
                    <a:pt x="878840" y="194138"/>
                    <a:pt x="878840" y="192868"/>
                  </a:cubicBezTo>
                  <a:cubicBezTo>
                    <a:pt x="880110" y="190328"/>
                    <a:pt x="883920" y="187788"/>
                    <a:pt x="885190" y="185248"/>
                  </a:cubicBezTo>
                  <a:cubicBezTo>
                    <a:pt x="887730" y="182708"/>
                    <a:pt x="890270" y="180168"/>
                    <a:pt x="891540" y="177628"/>
                  </a:cubicBezTo>
                  <a:cubicBezTo>
                    <a:pt x="892810" y="176358"/>
                    <a:pt x="894080" y="176358"/>
                    <a:pt x="895350" y="175088"/>
                  </a:cubicBezTo>
                  <a:cubicBezTo>
                    <a:pt x="896620" y="173818"/>
                    <a:pt x="897890" y="172548"/>
                    <a:pt x="899160" y="171278"/>
                  </a:cubicBezTo>
                  <a:cubicBezTo>
                    <a:pt x="900430" y="170008"/>
                    <a:pt x="904240" y="168738"/>
                    <a:pt x="906780" y="167468"/>
                  </a:cubicBezTo>
                  <a:cubicBezTo>
                    <a:pt x="909320" y="166198"/>
                    <a:pt x="913130" y="163658"/>
                    <a:pt x="915670" y="162388"/>
                  </a:cubicBezTo>
                  <a:cubicBezTo>
                    <a:pt x="916940" y="161118"/>
                    <a:pt x="918210" y="161118"/>
                    <a:pt x="919480" y="161118"/>
                  </a:cubicBezTo>
                  <a:cubicBezTo>
                    <a:pt x="920750" y="159848"/>
                    <a:pt x="922020" y="158578"/>
                    <a:pt x="923290" y="158578"/>
                  </a:cubicBezTo>
                  <a:cubicBezTo>
                    <a:pt x="925830" y="157308"/>
                    <a:pt x="929640" y="157308"/>
                    <a:pt x="933450" y="157308"/>
                  </a:cubicBezTo>
                  <a:cubicBezTo>
                    <a:pt x="935990" y="156038"/>
                    <a:pt x="939800" y="154768"/>
                    <a:pt x="942340" y="154768"/>
                  </a:cubicBezTo>
                  <a:cubicBezTo>
                    <a:pt x="943610" y="154768"/>
                    <a:pt x="946150" y="154768"/>
                    <a:pt x="947420" y="154768"/>
                  </a:cubicBezTo>
                  <a:cubicBezTo>
                    <a:pt x="948690" y="154768"/>
                    <a:pt x="949960" y="153498"/>
                    <a:pt x="951230" y="153498"/>
                  </a:cubicBezTo>
                  <a:cubicBezTo>
                    <a:pt x="955040" y="154768"/>
                    <a:pt x="957580" y="154768"/>
                    <a:pt x="961390" y="156038"/>
                  </a:cubicBezTo>
                  <a:cubicBezTo>
                    <a:pt x="963930" y="156038"/>
                    <a:pt x="967740" y="156038"/>
                    <a:pt x="970280" y="156038"/>
                  </a:cubicBezTo>
                  <a:cubicBezTo>
                    <a:pt x="972820" y="156038"/>
                    <a:pt x="974090" y="157308"/>
                    <a:pt x="975360" y="158578"/>
                  </a:cubicBezTo>
                  <a:cubicBezTo>
                    <a:pt x="976630" y="158578"/>
                    <a:pt x="977900" y="158578"/>
                    <a:pt x="979170" y="158578"/>
                  </a:cubicBezTo>
                  <a:cubicBezTo>
                    <a:pt x="981710" y="159848"/>
                    <a:pt x="985520" y="162388"/>
                    <a:pt x="988060" y="163658"/>
                  </a:cubicBezTo>
                  <a:cubicBezTo>
                    <a:pt x="989330" y="163658"/>
                    <a:pt x="989330" y="164928"/>
                    <a:pt x="991870" y="164928"/>
                  </a:cubicBezTo>
                  <a:cubicBezTo>
                    <a:pt x="1002030" y="164928"/>
                    <a:pt x="1056640" y="139528"/>
                    <a:pt x="1085850" y="142068"/>
                  </a:cubicBezTo>
                  <a:cubicBezTo>
                    <a:pt x="1113790" y="144608"/>
                    <a:pt x="1140460" y="163658"/>
                    <a:pt x="1167130" y="178898"/>
                  </a:cubicBezTo>
                  <a:cubicBezTo>
                    <a:pt x="1195070" y="195408"/>
                    <a:pt x="1225550" y="215728"/>
                    <a:pt x="1245870" y="241128"/>
                  </a:cubicBezTo>
                  <a:cubicBezTo>
                    <a:pt x="1267460" y="266528"/>
                    <a:pt x="1285240" y="302088"/>
                    <a:pt x="1292860" y="332568"/>
                  </a:cubicBezTo>
                  <a:cubicBezTo>
                    <a:pt x="1300480" y="357968"/>
                    <a:pt x="1299210" y="384638"/>
                    <a:pt x="1297940" y="410038"/>
                  </a:cubicBezTo>
                  <a:cubicBezTo>
                    <a:pt x="1296670" y="436708"/>
                    <a:pt x="1295400" y="460838"/>
                    <a:pt x="1287780" y="490048"/>
                  </a:cubicBezTo>
                  <a:cubicBezTo>
                    <a:pt x="1277620" y="526878"/>
                    <a:pt x="1256030" y="578948"/>
                    <a:pt x="1234440" y="611968"/>
                  </a:cubicBezTo>
                  <a:cubicBezTo>
                    <a:pt x="1217930" y="638638"/>
                    <a:pt x="1203960" y="660228"/>
                    <a:pt x="1176020" y="676738"/>
                  </a:cubicBezTo>
                  <a:cubicBezTo>
                    <a:pt x="1135380" y="700868"/>
                    <a:pt x="1045210" y="719918"/>
                    <a:pt x="995680" y="719918"/>
                  </a:cubicBezTo>
                  <a:cubicBezTo>
                    <a:pt x="961390" y="721188"/>
                    <a:pt x="932180" y="709758"/>
                    <a:pt x="909320" y="700868"/>
                  </a:cubicBezTo>
                  <a:cubicBezTo>
                    <a:pt x="891540" y="693248"/>
                    <a:pt x="873760" y="670388"/>
                    <a:pt x="866140" y="672928"/>
                  </a:cubicBezTo>
                  <a:cubicBezTo>
                    <a:pt x="862330" y="675468"/>
                    <a:pt x="867410" y="688168"/>
                    <a:pt x="861060" y="693248"/>
                  </a:cubicBezTo>
                  <a:cubicBezTo>
                    <a:pt x="845820" y="707218"/>
                    <a:pt x="778510" y="716108"/>
                    <a:pt x="741680" y="719918"/>
                  </a:cubicBezTo>
                  <a:cubicBezTo>
                    <a:pt x="708660" y="723728"/>
                    <a:pt x="678180" y="721188"/>
                    <a:pt x="648970" y="718648"/>
                  </a:cubicBezTo>
                  <a:cubicBezTo>
                    <a:pt x="618490" y="716108"/>
                    <a:pt x="586740" y="713568"/>
                    <a:pt x="561340" y="703408"/>
                  </a:cubicBezTo>
                  <a:cubicBezTo>
                    <a:pt x="535940" y="693248"/>
                    <a:pt x="518160" y="674198"/>
                    <a:pt x="495300" y="658958"/>
                  </a:cubicBezTo>
                  <a:cubicBezTo>
                    <a:pt x="469900" y="642448"/>
                    <a:pt x="440690" y="623398"/>
                    <a:pt x="414020" y="606888"/>
                  </a:cubicBezTo>
                  <a:cubicBezTo>
                    <a:pt x="389890" y="591648"/>
                    <a:pt x="360680" y="581488"/>
                    <a:pt x="341630" y="564978"/>
                  </a:cubicBezTo>
                  <a:cubicBezTo>
                    <a:pt x="325120" y="552278"/>
                    <a:pt x="321310" y="530688"/>
                    <a:pt x="303530" y="520528"/>
                  </a:cubicBezTo>
                  <a:cubicBezTo>
                    <a:pt x="280670" y="507828"/>
                    <a:pt x="231140" y="507828"/>
                    <a:pt x="210820" y="504018"/>
                  </a:cubicBezTo>
                  <a:cubicBezTo>
                    <a:pt x="203200" y="501478"/>
                    <a:pt x="191770" y="498938"/>
                    <a:pt x="191770" y="498938"/>
                  </a:cubicBezTo>
                  <a:cubicBezTo>
                    <a:pt x="191770" y="498938"/>
                    <a:pt x="186690" y="495128"/>
                    <a:pt x="184150" y="493858"/>
                  </a:cubicBezTo>
                  <a:cubicBezTo>
                    <a:pt x="180340" y="491318"/>
                    <a:pt x="175260" y="487508"/>
                    <a:pt x="175260" y="487508"/>
                  </a:cubicBezTo>
                  <a:cubicBezTo>
                    <a:pt x="175260" y="487508"/>
                    <a:pt x="170180" y="482428"/>
                    <a:pt x="168910" y="479888"/>
                  </a:cubicBezTo>
                  <a:cubicBezTo>
                    <a:pt x="166370" y="477348"/>
                    <a:pt x="161290" y="472268"/>
                    <a:pt x="161290" y="472268"/>
                  </a:cubicBezTo>
                  <a:cubicBezTo>
                    <a:pt x="161290" y="472268"/>
                    <a:pt x="158750" y="465918"/>
                    <a:pt x="156210" y="463378"/>
                  </a:cubicBezTo>
                  <a:cubicBezTo>
                    <a:pt x="154940" y="459568"/>
                    <a:pt x="152400" y="454488"/>
                    <a:pt x="152400" y="454488"/>
                  </a:cubicBezTo>
                  <a:cubicBezTo>
                    <a:pt x="152400" y="453218"/>
                    <a:pt x="149860" y="446868"/>
                    <a:pt x="149860" y="444328"/>
                  </a:cubicBezTo>
                  <a:cubicBezTo>
                    <a:pt x="148590" y="440518"/>
                    <a:pt x="147320" y="434168"/>
                    <a:pt x="147320" y="434168"/>
                  </a:cubicBezTo>
                  <a:cubicBezTo>
                    <a:pt x="147320" y="434168"/>
                    <a:pt x="147320" y="426548"/>
                    <a:pt x="147320" y="424008"/>
                  </a:cubicBezTo>
                  <a:cubicBezTo>
                    <a:pt x="147320" y="420198"/>
                    <a:pt x="147320" y="413848"/>
                    <a:pt x="147320" y="413848"/>
                  </a:cubicBezTo>
                  <a:cubicBezTo>
                    <a:pt x="147320" y="412578"/>
                    <a:pt x="148590" y="406228"/>
                    <a:pt x="149860" y="403688"/>
                  </a:cubicBezTo>
                  <a:cubicBezTo>
                    <a:pt x="149860" y="399878"/>
                    <a:pt x="152400" y="398608"/>
                    <a:pt x="151130" y="394798"/>
                  </a:cubicBezTo>
                  <a:cubicBezTo>
                    <a:pt x="147320" y="378288"/>
                    <a:pt x="71120" y="303358"/>
                    <a:pt x="44450" y="265258"/>
                  </a:cubicBezTo>
                  <a:cubicBezTo>
                    <a:pt x="25400" y="238588"/>
                    <a:pt x="0" y="191598"/>
                    <a:pt x="0" y="191598"/>
                  </a:cubicBezTo>
                  <a:moveTo>
                    <a:pt x="441960" y="342728"/>
                  </a:moveTo>
                  <a:cubicBezTo>
                    <a:pt x="443230" y="342728"/>
                    <a:pt x="443230" y="342728"/>
                    <a:pt x="443230" y="342728"/>
                  </a:cubicBezTo>
                  <a:cubicBezTo>
                    <a:pt x="443230" y="342728"/>
                    <a:pt x="441960" y="342728"/>
                    <a:pt x="441960" y="342728"/>
                  </a:cubicBezTo>
                  <a:moveTo>
                    <a:pt x="660400" y="272878"/>
                  </a:moveTo>
                  <a:cubicBezTo>
                    <a:pt x="693420" y="284308"/>
                    <a:pt x="725170" y="318598"/>
                    <a:pt x="741680" y="337648"/>
                  </a:cubicBezTo>
                  <a:cubicBezTo>
                    <a:pt x="753110" y="350348"/>
                    <a:pt x="758190" y="368128"/>
                    <a:pt x="768350" y="373208"/>
                  </a:cubicBezTo>
                  <a:cubicBezTo>
                    <a:pt x="775970" y="377018"/>
                    <a:pt x="792480" y="378288"/>
                    <a:pt x="795020" y="373208"/>
                  </a:cubicBezTo>
                  <a:cubicBezTo>
                    <a:pt x="800100" y="363048"/>
                    <a:pt x="749300" y="309708"/>
                    <a:pt x="726440" y="283038"/>
                  </a:cubicBezTo>
                  <a:cubicBezTo>
                    <a:pt x="707390" y="261448"/>
                    <a:pt x="683260" y="238588"/>
                    <a:pt x="671830" y="225888"/>
                  </a:cubicBezTo>
                  <a:cubicBezTo>
                    <a:pt x="666750" y="220808"/>
                    <a:pt x="662940" y="211918"/>
                    <a:pt x="661670" y="213188"/>
                  </a:cubicBezTo>
                  <a:cubicBezTo>
                    <a:pt x="656590" y="214458"/>
                    <a:pt x="660400" y="272878"/>
                    <a:pt x="660400" y="272878"/>
                  </a:cubicBezTo>
                  <a:moveTo>
                    <a:pt x="939800" y="539578"/>
                  </a:moveTo>
                  <a:cubicBezTo>
                    <a:pt x="1055370" y="562438"/>
                    <a:pt x="1101090" y="528148"/>
                    <a:pt x="1112520" y="514178"/>
                  </a:cubicBezTo>
                  <a:cubicBezTo>
                    <a:pt x="1116330" y="507828"/>
                    <a:pt x="1116330" y="498938"/>
                    <a:pt x="1116330" y="498938"/>
                  </a:cubicBezTo>
                  <a:cubicBezTo>
                    <a:pt x="1116330" y="498938"/>
                    <a:pt x="1113790" y="504018"/>
                    <a:pt x="1113790" y="504018"/>
                  </a:cubicBezTo>
                  <a:cubicBezTo>
                    <a:pt x="1113790" y="504018"/>
                    <a:pt x="1108710" y="509098"/>
                    <a:pt x="1107440" y="511638"/>
                  </a:cubicBezTo>
                  <a:cubicBezTo>
                    <a:pt x="1104900" y="514178"/>
                    <a:pt x="1099820" y="519258"/>
                    <a:pt x="1099820" y="519258"/>
                  </a:cubicBezTo>
                  <a:cubicBezTo>
                    <a:pt x="1099820" y="519258"/>
                    <a:pt x="1094740" y="523068"/>
                    <a:pt x="1092200" y="524338"/>
                  </a:cubicBezTo>
                  <a:cubicBezTo>
                    <a:pt x="1089660" y="526878"/>
                    <a:pt x="1083310" y="530688"/>
                    <a:pt x="1083310" y="530688"/>
                  </a:cubicBezTo>
                  <a:cubicBezTo>
                    <a:pt x="1083310" y="530688"/>
                    <a:pt x="1076960" y="533228"/>
                    <a:pt x="1074420" y="533228"/>
                  </a:cubicBezTo>
                  <a:cubicBezTo>
                    <a:pt x="1070610" y="534498"/>
                    <a:pt x="1065530" y="537038"/>
                    <a:pt x="1064260" y="537038"/>
                  </a:cubicBezTo>
                  <a:cubicBezTo>
                    <a:pt x="1064260" y="537038"/>
                    <a:pt x="1057910" y="538308"/>
                    <a:pt x="1055370" y="538308"/>
                  </a:cubicBezTo>
                  <a:cubicBezTo>
                    <a:pt x="1051560" y="539578"/>
                    <a:pt x="1045210" y="539578"/>
                    <a:pt x="1045210" y="539578"/>
                  </a:cubicBezTo>
                  <a:cubicBezTo>
                    <a:pt x="1045210" y="539578"/>
                    <a:pt x="939800" y="539578"/>
                    <a:pt x="939800" y="53957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820263" y="2272568"/>
            <a:ext cx="13471557" cy="6651581"/>
          </a:xfrm>
          <a:custGeom>
            <a:avLst/>
            <a:gdLst/>
            <a:ahLst/>
            <a:cxnLst/>
            <a:rect r="r" b="b" t="t" l="l"/>
            <a:pathLst>
              <a:path h="6651581" w="13471557">
                <a:moveTo>
                  <a:pt x="0" y="0"/>
                </a:moveTo>
                <a:lnTo>
                  <a:pt x="13471557" y="0"/>
                </a:lnTo>
                <a:lnTo>
                  <a:pt x="13471557" y="6651581"/>
                </a:lnTo>
                <a:lnTo>
                  <a:pt x="0" y="6651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2504" y="562089"/>
            <a:ext cx="15333149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Construction-2 (QAESS-SR) Flow Chart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65904" y="2006170"/>
            <a:ext cx="15638269" cy="615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0720" indent="-390360" lvl="1">
              <a:lnSpc>
                <a:spcPts val="5062"/>
              </a:lnSpc>
              <a:buFont typeface="Arial"/>
              <a:buChar char="•"/>
            </a:pP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6A</a:t>
            </a:r>
            <a:r>
              <a:rPr lang="en-US" sz="36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 </a:t>
            </a: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Accommodation of new participant</a:t>
            </a: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</a:t>
            </a:r>
          </a:p>
          <a:p>
            <a:pPr algn="just">
              <a:lnSpc>
                <a:spcPts val="4642"/>
              </a:lnSpc>
            </a:pPr>
            <a:r>
              <a:rPr lang="en-US" sz="33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Pl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ew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int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next unfil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era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tion (Gi).</a:t>
            </a:r>
          </a:p>
          <a:p>
            <a:pPr algn="just" marL="780720" indent="-390360" lvl="1">
              <a:lnSpc>
                <a:spcPts val="5062"/>
              </a:lnSpc>
              <a:buFont typeface="Arial"/>
              <a:buChar char="•"/>
            </a:pP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6B</a:t>
            </a:r>
            <a:r>
              <a:rPr lang="en-US" sz="36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 </a:t>
            </a: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Composite state creation |Sᵢ⟩ = (|Sᵢ⟩, |Sᶜᵢ⟩)</a:t>
            </a:r>
          </a:p>
          <a:p>
            <a:pPr algn="just">
              <a:lnSpc>
                <a:spcPts val="4642"/>
              </a:lnSpc>
            </a:pPr>
            <a:r>
              <a:rPr lang="en-US" sz="33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Same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trap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-c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ct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ion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as Const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ction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 </a:t>
            </a:r>
          </a:p>
          <a:p>
            <a:pPr algn="just">
              <a:lnSpc>
                <a:spcPts val="5062"/>
              </a:lnSpc>
            </a:pPr>
          </a:p>
          <a:p>
            <a:pPr algn="just" marL="780720" indent="-390360" lvl="1">
              <a:lnSpc>
                <a:spcPts val="5062"/>
              </a:lnSpc>
              <a:buFont typeface="Arial"/>
              <a:buChar char="•"/>
            </a:pP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6C </a:t>
            </a:r>
            <a:r>
              <a:rPr lang="en-US" sz="36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– </a:t>
            </a: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Overall SHARE</a:t>
            </a:r>
          </a:p>
          <a:p>
            <a:pPr algn="just">
              <a:lnSpc>
                <a:spcPts val="4642"/>
              </a:lnSpc>
            </a:pPr>
            <a:r>
              <a:rPr lang="en-US" sz="33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g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ion G₁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via </a:t>
            </a:r>
            <a:r>
              <a:rPr lang="en-US" sz="33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(p, p) QTSS QShTh(p, p).</a:t>
            </a:r>
          </a:p>
          <a:p>
            <a:pPr algn="just">
              <a:lnSpc>
                <a:spcPts val="4642"/>
              </a:lnSpc>
            </a:pPr>
            <a:r>
              <a:rPr lang="en-US" sz="33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ter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ion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et shares via redistribution of previous generation shares.</a:t>
            </a:r>
          </a:p>
          <a:p>
            <a:pPr algn="just" marL="780720" indent="-390360" lvl="1">
              <a:lnSpc>
                <a:spcPts val="5062"/>
              </a:lnSpc>
              <a:buFont typeface="Arial"/>
              <a:buChar char="•"/>
            </a:pP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6D</a:t>
            </a:r>
            <a:r>
              <a:rPr lang="en-US" sz="36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–</a:t>
            </a:r>
            <a:r>
              <a:rPr lang="en-US" b="true" sz="36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Redistribution</a:t>
            </a:r>
          </a:p>
          <a:p>
            <a:pPr algn="just">
              <a:lnSpc>
                <a:spcPts val="4642"/>
              </a:lnSpc>
            </a:pP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</a:t>
            </a:r>
            <a:r>
              <a:rPr lang="en-US" sz="33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Modify share of old party Pᵢ and spread to subset </a:t>
            </a:r>
            <a:r>
              <a:rPr lang="en-US" sz="33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Pᶦₖ₊₁ in Gₖ₊₁ via QTSS.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71432" y="4595653"/>
            <a:ext cx="6220877" cy="462122"/>
          </a:xfrm>
          <a:custGeom>
            <a:avLst/>
            <a:gdLst/>
            <a:ahLst/>
            <a:cxnLst/>
            <a:rect r="r" b="b" t="t" l="l"/>
            <a:pathLst>
              <a:path h="462122" w="6220877">
                <a:moveTo>
                  <a:pt x="0" y="0"/>
                </a:moveTo>
                <a:lnTo>
                  <a:pt x="6220877" y="0"/>
                </a:lnTo>
                <a:lnTo>
                  <a:pt x="6220877" y="462122"/>
                </a:lnTo>
                <a:lnTo>
                  <a:pt x="0" y="462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2504" y="562089"/>
            <a:ext cx="1087785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Overall QAESS-SR Scheme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1929768"/>
            <a:ext cx="15590203" cy="518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party in generation Gₖ performs a local transformation of its own share an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sses o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minimal encoded data to the next generation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Gₖ₊₁.</a:t>
            </a:r>
          </a:p>
          <a:p>
            <a:pPr algn="just">
              <a:lnSpc>
                <a:spcPts val="4502"/>
              </a:lnSpc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Pi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peline: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Take own share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Applies a trap-code based modification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Apply threshold sharing locally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Each child receives a small “redistributed child share”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Next generation reconstructs only the parent’s modified share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945859" y="7143978"/>
            <a:ext cx="6065916" cy="2114322"/>
          </a:xfrm>
          <a:custGeom>
            <a:avLst/>
            <a:gdLst/>
            <a:ahLst/>
            <a:cxnLst/>
            <a:rect r="r" b="b" t="t" l="l"/>
            <a:pathLst>
              <a:path h="2114322" w="6065916">
                <a:moveTo>
                  <a:pt x="0" y="0"/>
                </a:moveTo>
                <a:lnTo>
                  <a:pt x="6065916" y="0"/>
                </a:lnTo>
                <a:lnTo>
                  <a:pt x="6065916" y="2114322"/>
                </a:lnTo>
                <a:lnTo>
                  <a:pt x="0" y="211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6354" y="562089"/>
            <a:ext cx="13956102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Idea: Redistribute, Don’t Re-create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4492" y="4151551"/>
            <a:ext cx="1119815" cy="289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04492" y="7482320"/>
            <a:ext cx="9039064" cy="118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 →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No g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obal refresh, no huge states, no exponential blow-up.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70629" y="523989"/>
            <a:ext cx="12851091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Internal Blueprint of Construction-2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904" y="1960724"/>
            <a:ext cx="15590203" cy="663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Construction-2 composes multiple quantum + classical layers:</a:t>
            </a:r>
          </a:p>
          <a:p>
            <a:pPr algn="just">
              <a:lnSpc>
                <a:spcPts val="1702"/>
              </a:lnSpc>
            </a:pPr>
          </a:p>
          <a:p>
            <a:pPr algn="just">
              <a:lnSpc>
                <a:spcPts val="4922"/>
              </a:lnSpc>
            </a:pPr>
            <a:r>
              <a:rPr lang="en-US" sz="35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Quantum Layer :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Stean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[[7,1,3]]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encoding of S[0]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4-part trap partitions (n₁, n₂, n₃, n₄)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Trap cond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n: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n₁ ⊕ n₂ = n₃ ⊕ n₄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Covert secret encoded on dedicated qubits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Randomized permutation σₖ₁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Pauli mask Pₖ₂</a:t>
            </a:r>
          </a:p>
          <a:p>
            <a:pPr algn="just">
              <a:lnSpc>
                <a:spcPts val="4922"/>
              </a:lnSpc>
            </a:pPr>
            <a:r>
              <a:rPr lang="en-US" sz="35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Classical Layer :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GF(2¹³) Shamir sharing for k₁, k₂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SHA-512 commitments for all verifiable parameters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32504" y="562089"/>
            <a:ext cx="1087785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Composite State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8899" y="2257883"/>
            <a:ext cx="15590203" cy="517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composite quantum state cre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ted 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Cons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ction-2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pr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ecise order:</a:t>
            </a:r>
          </a:p>
          <a:p>
            <a:pPr algn="just">
              <a:lnSpc>
                <a:spcPts val="1702"/>
              </a:lnSpc>
            </a:pP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       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|Ψ⟩ = Enc(S[0]) ⊗ n₁ ⊗ n₂ ⊗ n₃ ⊗ n₄ ⊗ Sc ⊗ r_Pⱼ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Where: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Enc(S[0]) = Steane encod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ng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n₁–n₄ = trap-based embedding of S[1:8]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 = c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overt secret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r_Pⱼ = random Pauli components</a:t>
            </a:r>
          </a:p>
          <a:p>
            <a:pPr algn="just">
              <a:lnSpc>
                <a:spcPts val="2822"/>
              </a:lnSpc>
            </a:pP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tru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ture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nsu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secrecy,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detectability, and compatibility with redistribution.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32504" y="562089"/>
            <a:ext cx="1087785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Efficient Share Generation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0409" y="2729288"/>
            <a:ext cx="15590203" cy="564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ction-2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ap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pl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ies 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small (p,p) QTSS to each party individually.</a:t>
            </a: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each party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Pᵢ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generatio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Gₖ:</a:t>
            </a:r>
          </a:p>
          <a:p>
            <a:pPr algn="just">
              <a:lnSpc>
                <a:spcPts val="3242"/>
              </a:lnSpc>
            </a:pPr>
          </a:p>
          <a:p>
            <a:pPr algn="just">
              <a:lnSpc>
                <a:spcPts val="4922"/>
              </a:lnSpc>
            </a:pPr>
            <a:r>
              <a:rPr lang="en-US" sz="35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Pᵢ generates: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ew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i-share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keep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Child-s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hares for parties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Gₖ₊₁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Updated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trapped +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overt structure</a:t>
            </a:r>
          </a:p>
          <a:p>
            <a:pPr algn="just">
              <a:lnSpc>
                <a:spcPts val="4502"/>
              </a:lnSpc>
            </a:pPr>
          </a:p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redu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workload f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rom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global → local,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enabling </a:t>
            </a:r>
            <a:r>
              <a:rPr lang="en-US" sz="3216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linear complexity.</a:t>
            </a:r>
          </a:p>
          <a:p>
            <a:pPr algn="just">
              <a:lnSpc>
                <a:spcPts val="4502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32504" y="562089"/>
            <a:ext cx="9404507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Complexity Advantages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1040" y="1863980"/>
            <a:ext cx="12829627" cy="715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5"/>
              </a:lnSpc>
            </a:pPr>
            <a:r>
              <a:rPr lang="en-US" sz="3332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Dea</a:t>
            </a:r>
            <a:r>
              <a:rPr lang="en-US" sz="3332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</a:t>
            </a:r>
            <a:r>
              <a:rPr lang="en-US" sz="3332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er Memory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Fro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m: </a:t>
            </a:r>
            <a:r>
              <a:rPr lang="en-US" b="true" sz="3332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O(∏|Gₖ|)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To: </a:t>
            </a:r>
            <a:r>
              <a:rPr lang="en-US" b="true" sz="3332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O(Σ|Gₖ|)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➡ Only stores data per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generatio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n, 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mbi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ion.</a:t>
            </a:r>
          </a:p>
          <a:p>
            <a:pPr algn="just">
              <a:lnSpc>
                <a:spcPts val="4665"/>
              </a:lnSpc>
            </a:pPr>
            <a:r>
              <a:rPr lang="en-US" sz="3332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Share Dimension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om: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eavy polynom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ial </a:t>
            </a:r>
            <a:r>
              <a:rPr lang="en-US" b="true" sz="3332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O(I⁴ log I (log log I)²)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To: </a:t>
            </a:r>
            <a:r>
              <a:rPr lang="en-US" b="true" sz="3332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O(I)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➡ Sc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ales smoothly with party 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ndex.</a:t>
            </a:r>
          </a:p>
          <a:p>
            <a:pPr algn="just">
              <a:lnSpc>
                <a:spcPts val="4665"/>
              </a:lnSpc>
            </a:pPr>
            <a:r>
              <a:rPr lang="en-US" sz="3332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</a:t>
            </a:r>
            <a:r>
              <a:rPr lang="en-US" sz="3332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Complexity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exp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onential recomputation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ribution s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cal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with gene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ration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size</a:t>
            </a:r>
          </a:p>
          <a:p>
            <a:pPr algn="just" marL="719557" indent="-359778" lvl="1">
              <a:lnSpc>
                <a:spcPts val="4665"/>
              </a:lnSpc>
              <a:buFont typeface="Arial"/>
              <a:buChar char="•"/>
            </a:pP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ntum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erations rema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co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nstant-d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332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633527"/>
            <a:ext cx="16899498" cy="7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7"/>
              </a:lnSpc>
            </a:pPr>
            <a:r>
              <a:rPr lang="en-US" b="true" sz="448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2: Dealer-message &amp; Party-key verification — Purpose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33765" y="2133441"/>
            <a:ext cx="14897593" cy="518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the distributed quantum state and keys are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authentic and untampered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before reconstruction.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Validates that each party holds the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correct permutation, Pauli mask, and trap indices.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Prevents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spy insertion, dishonest dealer, and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forged share injection.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Guarantees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Plausible Deniability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participants can safely reveal only the normal secret without exposing the covert one.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Preserves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Indistinguishability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ciphertext containing covert data looks identical to ciphertext without covert data.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633527"/>
            <a:ext cx="16899498" cy="7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7"/>
              </a:lnSpc>
            </a:pPr>
            <a:r>
              <a:rPr lang="en-US" b="true" sz="448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2: Dealer-message &amp; Party-key verification — Purpose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56582" y="2245968"/>
            <a:ext cx="8178096" cy="415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b="true" sz="2916" u="sng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it works (high-lev</a:t>
            </a:r>
            <a:r>
              <a:rPr lang="en-US" b="true" sz="2916" u="sng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el</a:t>
            </a:r>
            <a:r>
              <a:rPr lang="en-US" b="true" sz="2916" u="sng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):</a:t>
            </a:r>
          </a:p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Check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X/Z 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 qubits are measured to confirm dealer honesty.</a:t>
            </a:r>
          </a:p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C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onsistency → P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art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cro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s-c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ck p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erm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utation + Pauli keys with trap outcomes.</a:t>
            </a:r>
          </a:p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Accept / Abo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rt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 v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ifica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tion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passes, continue with secret sharing; else abort to prevent leakage.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8211" y="2245968"/>
            <a:ext cx="7312840" cy="312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b="true" sz="2916" u="sng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it matters:</a:t>
            </a:r>
          </a:p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rot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ect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aga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inst a dishonest dealer.</a:t>
            </a:r>
          </a:p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i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ndistinguis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ability &amp; deniability still hold unde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adv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ers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ial</a:t>
            </a: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settings.</a:t>
            </a:r>
          </a:p>
          <a:p>
            <a:pPr algn="just" marL="629594" indent="-314797" lvl="1">
              <a:lnSpc>
                <a:spcPts val="4082"/>
              </a:lnSpc>
              <a:buFont typeface="Arial"/>
              <a:buChar char="•"/>
            </a:pPr>
            <a:r>
              <a:rPr lang="en-US" sz="29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Prevents adversaries from forging or injecting fake shares.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04482" y="1946073"/>
          <a:ext cx="16060391" cy="7124700"/>
        </p:xfrm>
        <a:graphic>
          <a:graphicData uri="http://schemas.openxmlformats.org/drawingml/2006/table">
            <a:tbl>
              <a:tblPr/>
              <a:tblGrid>
                <a:gridCol w="4157335"/>
                <a:gridCol w="6137938"/>
                <a:gridCol w="5765119"/>
              </a:tblGrid>
              <a:tr h="1158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Code 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Security Effect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</a:tr>
              <a:tr h="852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apply_inverse_pauli(k2)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Remove Pauli mask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Restores true quantum state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apply_inverse_permutation(k1)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Undo qubit order shuffle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Realigns traps &amp; covert pattern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discard_traps()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Measure trap regions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Detects fake / tampered states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decode_steane()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QECC decode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Recovers normal secret correctly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GF(2^13).reconstruct_secret()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Rebuild key shares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Confirms σₖ₁, Pₖ₂, n₂, n₄ are valid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verify_commitment(...)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SHA-512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Blocks forged keys / spy injection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2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entropy ≥ threshold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Indistinguishability check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Keeps covert data undetectable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784929" y="633527"/>
            <a:ext cx="16899498" cy="7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7"/>
              </a:lnSpc>
            </a:pPr>
            <a:r>
              <a:rPr lang="en-US" b="true" sz="448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2: Dealer-message &amp; Party-key verification — Purpose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84929" y="633527"/>
            <a:ext cx="16899498" cy="7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7"/>
              </a:lnSpc>
            </a:pPr>
            <a:r>
              <a:rPr lang="en-US" b="true" sz="448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Algorithm - 2 is critical in our QAESS-SR implementation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248" y="2138224"/>
            <a:ext cx="14330236" cy="632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secret is reconstructed unless the full quantum ciphertext is v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erified.</a:t>
            </a:r>
          </a:p>
          <a:p>
            <a:pPr algn="just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Rejects t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ampered, spoofed,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or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forged quantum states before reconstruction.</a:t>
            </a:r>
          </a:p>
          <a:p>
            <a:pPr algn="just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permutation key, Pauli mask, and trap positions ar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c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onsistent across all p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art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s.</a:t>
            </a:r>
          </a:p>
          <a:p>
            <a:pPr algn="just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Keeps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cov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ert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trap-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embedd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ing invisible — ciphertext with and without covert data look identical </a:t>
            </a:r>
            <a:r>
              <a:rPr lang="en-US" b="true" sz="321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(indistinguishability).</a:t>
            </a:r>
          </a:p>
          <a:p>
            <a:pPr algn="just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Allows participants to deny 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existence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 cov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ert d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 if coerced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321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(plausible deniability).</a:t>
            </a:r>
          </a:p>
          <a:p>
            <a:pPr algn="just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</a:t>
            </a:r>
            <a:r>
              <a:rPr lang="en-US" b="true" sz="321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SHA-512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commitments +</a:t>
            </a:r>
            <a:r>
              <a:rPr lang="en-US" b="true" sz="3219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GF(2¹³)</a:t>
            </a: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key reconstruction to add classical trust on top of quantum protections.</a:t>
            </a:r>
          </a:p>
          <a:p>
            <a:pPr algn="just" marL="695197" indent="-347599" lvl="1">
              <a:lnSpc>
                <a:spcPts val="4507"/>
              </a:lnSpc>
              <a:buFont typeface="Arial"/>
              <a:buChar char="•"/>
            </a:pPr>
            <a:r>
              <a:rPr lang="en-US" sz="3219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Makes  secure and scalable for multi-generation systems.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32504" y="562089"/>
            <a:ext cx="1087785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Security Guarantees Preserved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36422"/>
            <a:ext cx="15590203" cy="526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2"/>
              </a:lnSpc>
            </a:pPr>
            <a:r>
              <a:rPr lang="en-US" sz="37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 with improved efficiency, Construction-2 maintain</a:t>
            </a:r>
            <a:r>
              <a:rPr lang="en-US" sz="37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s:</a:t>
            </a:r>
          </a:p>
          <a:p>
            <a:pPr algn="just">
              <a:lnSpc>
                <a:spcPts val="1842"/>
              </a:lnSpc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Quantum Threshold secrecy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Tamper detection using trap qubits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Covert / anamorphic protect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ion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Verification compatibility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(Algorithm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2)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Resistance to PNS, MITM, Trojan, Intercept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-R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esend at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cks</a:t>
            </a:r>
          </a:p>
          <a:p>
            <a:pPr algn="just">
              <a:lnSpc>
                <a:spcPts val="2122"/>
              </a:lnSpc>
            </a:pPr>
          </a:p>
          <a:p>
            <a:pPr algn="just">
              <a:lnSpc>
                <a:spcPts val="4922"/>
              </a:lnSpc>
            </a:pPr>
            <a:r>
              <a:rPr lang="en-US" sz="35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5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ecurity stays strong → efficiency is massively upgraded.</a:t>
            </a:r>
          </a:p>
          <a:p>
            <a:pPr algn="just">
              <a:lnSpc>
                <a:spcPts val="4502"/>
              </a:lnSpc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860508" y="1893131"/>
          <a:ext cx="16566984" cy="7181850"/>
        </p:xfrm>
        <a:graphic>
          <a:graphicData uri="http://schemas.openxmlformats.org/drawingml/2006/table">
            <a:tbl>
              <a:tblPr/>
              <a:tblGrid>
                <a:gridCol w="5169884"/>
                <a:gridCol w="4985707"/>
                <a:gridCol w="6411393"/>
              </a:tblGrid>
              <a:tr h="12518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Construction-1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Construction-2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</a:tr>
              <a:tr h="13616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Dealer 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Exponential (stores many permutations &amp; Pauli keys across generations)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Linear (stores only k₁, k₂ + commitments)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3616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Quantum Operations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Basic trap-code operations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Steane encoding + permutation + Pauli → still low overhead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224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Security / Attack Overhead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No attack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PNS, MITM, Trojan, IR → O(n)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3616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Share State Dimension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O(I⁴ log I (log log I)²) → grows rapidly with number of parties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O(I) → linear, scalable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9224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Redistribution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10"/>
                        </a:lnSpc>
                        <a:defRPr/>
                      </a:pPr>
                      <a:r>
                        <a:rPr lang="en-US" sz="215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O(g × p) → efficient multi-generation redistribution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32504" y="562089"/>
            <a:ext cx="1642082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Comparison (Construction-1 vs Construction-2)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214209" y="402690"/>
            <a:ext cx="16420826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Workflow of Reconstruction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416101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88804" y="1511835"/>
            <a:ext cx="14898985" cy="7744250"/>
          </a:xfrm>
          <a:custGeom>
            <a:avLst/>
            <a:gdLst/>
            <a:ahLst/>
            <a:cxnLst/>
            <a:rect r="r" b="b" t="t" l="l"/>
            <a:pathLst>
              <a:path h="7744250" w="14898985">
                <a:moveTo>
                  <a:pt x="0" y="0"/>
                </a:moveTo>
                <a:lnTo>
                  <a:pt x="14898985" y="0"/>
                </a:lnTo>
                <a:lnTo>
                  <a:pt x="14898985" y="7744250"/>
                </a:lnTo>
                <a:lnTo>
                  <a:pt x="0" y="7744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04" r="0" b="-1704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587" y="277749"/>
            <a:ext cx="16420826" cy="209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4"/>
              </a:lnSpc>
            </a:pPr>
            <a:r>
              <a:rPr lang="en-US" sz="6385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3: - Reconstruction of Normal Secret</a:t>
            </a:r>
          </a:p>
          <a:p>
            <a:pPr algn="ctr" marL="0" indent="0" lvl="0">
              <a:lnSpc>
                <a:spcPts val="7854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838746" y="1399058"/>
            <a:ext cx="1642055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38746" y="1797718"/>
            <a:ext cx="16195122" cy="693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3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Pu</a:t>
            </a:r>
            <a:r>
              <a:rPr lang="en-US" sz="33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rpose :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Goal: </a:t>
            </a:r>
            <a:r>
              <a:rPr lang="en-US" sz="3250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Reconstruct the original normal secret |S⟩ from distributed shares across multiple generations.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Method: </a:t>
            </a:r>
            <a:r>
              <a:rPr lang="en-US" sz="3250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Bottom-up reconstruction starting from the most recent generation.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insight: </a:t>
            </a:r>
            <a:r>
              <a:rPr lang="en-US" sz="3250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Reverses the composite state construction by systematically peeling back layers</a:t>
            </a: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.</a:t>
            </a:r>
          </a:p>
          <a:p>
            <a:pPr algn="just">
              <a:lnSpc>
                <a:spcPts val="4690"/>
              </a:lnSpc>
            </a:pPr>
            <a:r>
              <a:rPr lang="en-US" sz="33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Inputs :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Input Requirements: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 → Last generation index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 = (f₁, f₂, ..., fg) → Tuple indicating participants from each generation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Shares from qualifying parties meeting threshold k(t)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Classical keys: k₁, k₂ (recovered via CRecTh)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66385" y="327234"/>
            <a:ext cx="19077011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3: Step-by-step (Procedures summary)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4" y="1551161"/>
            <a:ext cx="16420554" cy="1216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85202" y="2402109"/>
            <a:ext cx="9183871" cy="632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Iterative Parent Recovery:</a:t>
            </a:r>
          </a:p>
          <a:p>
            <a:pPr algn="just">
              <a:lnSpc>
                <a:spcPts val="4550"/>
              </a:lnSpc>
            </a:pPr>
          </a:p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•For j = g-1 down to 1: </a:t>
            </a:r>
          </a:p>
          <a:p>
            <a:pPr algn="just">
              <a:lnSpc>
                <a:spcPts val="4550"/>
              </a:lnSpc>
            </a:pPr>
            <a:r>
              <a:rPr lang="en-US" sz="3250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</a:t>
            </a: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 Apply inverse Pauli: P⁻¹_k2 </a:t>
            </a:r>
          </a:p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</a:t>
            </a: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Apply inverse permutation: σ⁻¹_k1 </a:t>
            </a:r>
          </a:p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</a:t>
            </a: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Extract first n quantum lines </a:t>
            </a:r>
          </a:p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</a:t>
            </a: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4.Decode QECC: Dec(Stemp(parent(P))) </a:t>
            </a:r>
          </a:p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</a:t>
            </a: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5. Obtain |S(f₁,...,fj-1)⟩ </a:t>
            </a:r>
          </a:p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</a:t>
            </a: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End Output: |S⟩ (original secret)</a:t>
            </a:r>
          </a:p>
          <a:p>
            <a:pPr algn="just">
              <a:lnSpc>
                <a:spcPts val="4550"/>
              </a:lnSpc>
            </a:pPr>
          </a:p>
          <a:p>
            <a:pPr algn="just">
              <a:lnSpc>
                <a:spcPts val="45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70491" y="2402109"/>
            <a:ext cx="8373509" cy="689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0"/>
              </a:lnSpc>
            </a:pPr>
            <a:r>
              <a:rPr lang="en-US" sz="325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Procedure 3a — Reconstruct Generation States</a:t>
            </a:r>
          </a:p>
          <a:p>
            <a:pPr algn="just">
              <a:lnSpc>
                <a:spcPts val="4550"/>
              </a:lnSpc>
            </a:pP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Start with generation Gg.</a:t>
            </a: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Apply QRecTh(fi, |Gi|) to recover random states. </a:t>
            </a:r>
          </a:p>
          <a:p>
            <a:pPr algn="just">
              <a:lnSpc>
                <a:spcPts val="4550"/>
              </a:lnSpc>
            </a:pPr>
            <a:r>
              <a:rPr lang="en-US" sz="3250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</a:t>
            </a:r>
            <a:r>
              <a:rPr lang="en-US" sz="32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|r(f₁)⟩, |r(f₁,f₂)⟩, ..., |r(f₁,...,fg)⟩</a:t>
            </a:r>
          </a:p>
          <a:p>
            <a:pPr algn="just">
              <a:lnSpc>
                <a:spcPts val="4550"/>
              </a:lnSpc>
            </a:pPr>
          </a:p>
          <a:p>
            <a:pPr algn="just" marL="701817" indent="-350908" lvl="1">
              <a:lnSpc>
                <a:spcPts val="4550"/>
              </a:lnSpc>
              <a:buFont typeface="Arial"/>
              <a:buChar char="•"/>
            </a:pPr>
            <a:r>
              <a:rPr lang="en-US" b="true" sz="325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Use QRecTh(kI - Σ^(g-1)_(i=1) fi, i) to obtain: </a:t>
            </a:r>
          </a:p>
          <a:p>
            <a:pPr algn="just">
              <a:lnSpc>
                <a:spcPts val="4550"/>
              </a:lnSpc>
            </a:pPr>
            <a:r>
              <a:rPr lang="en-US" sz="3250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</a:t>
            </a:r>
            <a:r>
              <a:rPr lang="en-US" sz="32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|S(f₁,...,fg-1)⟩ = |Sparent(P)⟩</a:t>
            </a:r>
          </a:p>
          <a:p>
            <a:pPr algn="just">
              <a:lnSpc>
                <a:spcPts val="4550"/>
              </a:lnSpc>
            </a:pPr>
          </a:p>
          <a:p>
            <a:pPr algn="just">
              <a:lnSpc>
                <a:spcPts val="455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66385" y="327234"/>
            <a:ext cx="19077011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3: Why these design choices matter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4" y="1551161"/>
            <a:ext cx="16420554" cy="1216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66035" y="2383059"/>
            <a:ext cx="17380589" cy="4990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844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Bottom-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up approach → Ensures pr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er unwinding of generation-based encoding.</a:t>
            </a:r>
          </a:p>
          <a:p>
            <a:pPr algn="just">
              <a:lnSpc>
                <a:spcPts val="4901"/>
              </a:lnSpc>
            </a:pPr>
          </a:p>
          <a:p>
            <a:pPr algn="just" marL="755844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Inverse operations in exact reverse order→ maintains quantum coherence during reconstruction.</a:t>
            </a:r>
          </a:p>
          <a:p>
            <a:pPr algn="just">
              <a:lnSpc>
                <a:spcPts val="4901"/>
              </a:lnSpc>
            </a:pPr>
          </a:p>
          <a:p>
            <a:pPr algn="just" marL="755844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Threshold verification at each level → Prevents partial reconstruction att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acks.</a:t>
            </a:r>
          </a:p>
          <a:p>
            <a:pPr algn="just">
              <a:lnSpc>
                <a:spcPts val="4901"/>
              </a:lnSpc>
            </a:pPr>
          </a:p>
          <a:p>
            <a:pPr algn="just" marL="755844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QECC decoding last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→ Error correction happens a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fter removing masking l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ayers.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790" y="2493644"/>
            <a:ext cx="17916991" cy="5129535"/>
          </a:xfrm>
          <a:custGeom>
            <a:avLst/>
            <a:gdLst/>
            <a:ahLst/>
            <a:cxnLst/>
            <a:rect r="r" b="b" t="t" l="l"/>
            <a:pathLst>
              <a:path h="5129535" w="17916991">
                <a:moveTo>
                  <a:pt x="0" y="0"/>
                </a:moveTo>
                <a:lnTo>
                  <a:pt x="17916990" y="0"/>
                </a:lnTo>
                <a:lnTo>
                  <a:pt x="17916990" y="5129535"/>
                </a:lnTo>
                <a:lnTo>
                  <a:pt x="0" y="5129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4" t="0" r="-15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983" y="355809"/>
            <a:ext cx="18082035" cy="160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7"/>
              </a:lnSpc>
            </a:pPr>
            <a:r>
              <a:rPr lang="en-US" sz="4875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4: Reconstruction of Covert secret (QAESS RECONcov)</a:t>
            </a:r>
          </a:p>
          <a:p>
            <a:pPr algn="ctr" marL="0" indent="0" lvl="0">
              <a:lnSpc>
                <a:spcPts val="5997"/>
              </a:lnSpc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1028704" y="1551161"/>
            <a:ext cx="16420554" cy="1216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91136" y="1821287"/>
            <a:ext cx="17380589" cy="128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844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nput Requirements: To verify that the Any reconstructured random states |r(f₁,...,fi)⟩ </a:t>
            </a:r>
          </a:p>
          <a:p>
            <a:pPr algn="just" marL="755844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Classical parameters: n₂, n₄ (vi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 CRecTh) -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Permutation key σk1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containing σcov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428" y="3582493"/>
            <a:ext cx="17380589" cy="562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Mai</a:t>
            </a: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 Reconstruction Steps :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Select random state: Choose any |r(f₁,...,fi)⟩ from reconstructed states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Prepare extraction Template:</a:t>
            </a:r>
          </a:p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|Temp3⟩ = |⊥⟩^⊗(3g-n₂-n₄) ⊗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|Temp2⟩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Apply p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ermutation:</a:t>
            </a:r>
          </a:p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   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σk1(|Temp3⟩) = |⊥'⟩ ⊗ σcov(|Temp1⟩)  =|⊥'⟩</a:t>
            </a: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⊗ |Sc⟩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Extract covert message:</a:t>
            </a:r>
          </a:p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</a:t>
            </a: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-Take only last (n2+ n4) quantum lines.</a:t>
            </a:r>
          </a:p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</a:t>
            </a: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 Result: |Sc⟩ (covert secret)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651140" y="472775"/>
            <a:ext cx="18082035" cy="98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1"/>
              </a:lnSpc>
            </a:pPr>
            <a:r>
              <a:rPr lang="en-US" b="true" sz="567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Reconstruction Verification and Security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4" y="1551161"/>
            <a:ext cx="16420554" cy="1216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79729" y="1849220"/>
            <a:ext cx="17380589" cy="686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1.Threshold Check:        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Ver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ify Σfi ≥ k(t) before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reconstruction 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Abort if insufficient parties </a:t>
            </a:r>
          </a:p>
          <a:p>
            <a:pPr algn="just">
              <a:lnSpc>
                <a:spcPts val="4901"/>
              </a:lnSpc>
            </a:pPr>
          </a:p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K</a:t>
            </a: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ey Consistency:  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Cross-verify k₁, k₂ across multiple parties 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Check trap measurement outcomes match expected patterns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  <a:p>
            <a:pPr algn="just">
              <a:lnSpc>
                <a:spcPts val="4901"/>
              </a:lnSpc>
            </a:pPr>
          </a:p>
          <a:p>
            <a:pPr algn="just">
              <a:lnSpc>
                <a:spcPts val="4901"/>
              </a:lnSpc>
            </a:pP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</a:t>
            </a: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</a:t>
            </a:r>
            <a:r>
              <a:rPr lang="en-US" sz="3500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econstruction Validation: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 normal secret: Verify QECC syndrome =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0 </a:t>
            </a:r>
          </a:p>
          <a:p>
            <a:pPr algn="just" marL="755843" indent="-377922" lvl="1">
              <a:lnSpc>
                <a:spcPts val="4901"/>
              </a:lnSpc>
              <a:buFont typeface="Arial"/>
              <a:buChar char="•"/>
            </a:pP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 covert secret: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Check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n₂ zeros, n₄ ones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pa</a:t>
            </a:r>
            <a:r>
              <a:rPr lang="en-US" b="true" sz="3500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ttern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888282" y="472775"/>
            <a:ext cx="18082035" cy="98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1"/>
              </a:lnSpc>
            </a:pPr>
            <a:r>
              <a:rPr lang="en-US" b="true" sz="567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Limitations of Algo 3 &amp; 4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4" y="1551161"/>
            <a:ext cx="16420554" cy="1216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74824"/>
            <a:ext cx="16189311" cy="598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4000" indent="-402000" lvl="1">
              <a:lnSpc>
                <a:spcPts val="5213"/>
              </a:lnSpc>
              <a:buFont typeface="Arial"/>
              <a:buChar char="•"/>
            </a:pP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Normal and cov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er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 secrets are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reconstructed separately, with no final cross-check.</a:t>
            </a:r>
          </a:p>
          <a:p>
            <a:pPr algn="just" marL="804000" indent="-402000" lvl="1">
              <a:lnSpc>
                <a:spcPts val="5213"/>
              </a:lnSpc>
              <a:buFont typeface="Arial"/>
              <a:buChar char="•"/>
            </a:pP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σₖ₁ and σ_cov aren’t jointly validated, so trap structure and permutation may misalign.</a:t>
            </a:r>
          </a:p>
          <a:p>
            <a:pPr algn="just" marL="804000" indent="-402000" lvl="1">
              <a:lnSpc>
                <a:spcPts val="5213"/>
              </a:lnSpc>
              <a:buFont typeface="Arial"/>
              <a:buChar char="•"/>
            </a:pP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Covert extraction depends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 one random state without verifying it against full QECC output.</a:t>
            </a:r>
          </a:p>
          <a:p>
            <a:pPr algn="just" marL="804000" indent="-402000" lvl="1">
              <a:lnSpc>
                <a:spcPts val="5213"/>
              </a:lnSpc>
              <a:buFont typeface="Arial"/>
              <a:buChar char="•"/>
            </a:pP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After redistribution,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n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combined integrity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check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ensures both secrets match one composite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</a:t>
            </a:r>
            <a:r>
              <a:rPr lang="en-US" b="true" sz="3723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tate.</a:t>
            </a:r>
          </a:p>
          <a:p>
            <a:pPr algn="just">
              <a:lnSpc>
                <a:spcPts val="521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983" y="346284"/>
            <a:ext cx="18082035" cy="98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1"/>
              </a:lnSpc>
            </a:pPr>
            <a:r>
              <a:rPr lang="en-US" b="true" sz="567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Procedure Followed in Algorithm 7 (Reconstruction-II)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4" y="1551161"/>
            <a:ext cx="16420554" cy="1216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18943" y="2046992"/>
            <a:ext cx="16316250" cy="759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0"/>
              </a:lnSpc>
            </a:pPr>
            <a:r>
              <a:rPr lang="en-US" sz="3271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1) Rebuild the Normal Secret</a:t>
            </a:r>
          </a:p>
          <a:p>
            <a:pPr algn="just" marL="706369" indent="-353184" lvl="1">
              <a:lnSpc>
                <a:spcPts val="4580"/>
              </a:lnSpc>
              <a:buFont typeface="Arial"/>
              <a:buChar char="•"/>
            </a:pPr>
            <a:r>
              <a:rPr lang="en-US" sz="3271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Run Algo</a:t>
            </a:r>
            <a:r>
              <a:rPr lang="en-US" sz="3271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</a:t>
            </a:r>
            <a:r>
              <a:rPr lang="en-US" sz="3271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thm 3 once to remove Pauli mask + permutation and decode QECC to obtain a trusted |S⟩.</a:t>
            </a:r>
          </a:p>
          <a:p>
            <a:pPr algn="just">
              <a:lnSpc>
                <a:spcPts val="4580"/>
              </a:lnSpc>
            </a:pPr>
            <a:r>
              <a:rPr lang="en-US" sz="3271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2) Select and Align a Random State</a:t>
            </a:r>
          </a:p>
          <a:p>
            <a:pPr algn="just" marL="706369" indent="-353184" lvl="1">
              <a:lnSpc>
                <a:spcPts val="4580"/>
              </a:lnSpc>
              <a:buFont typeface="Arial"/>
              <a:buChar char="•"/>
            </a:pPr>
            <a:r>
              <a:rPr lang="en-US" b="true" sz="3271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271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Pick any reconstructed random state r(f₁,…,fᵢ) and prepare the extended template for trap alignment.</a:t>
            </a:r>
          </a:p>
          <a:p>
            <a:pPr algn="just">
              <a:lnSpc>
                <a:spcPts val="4580"/>
              </a:lnSpc>
            </a:pPr>
            <a:r>
              <a:rPr lang="en-US" sz="3271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3) Apply σₖ₁ for Covert Extraction</a:t>
            </a:r>
          </a:p>
          <a:p>
            <a:pPr algn="just" marL="706369" indent="-353184" lvl="1">
              <a:lnSpc>
                <a:spcPts val="4580"/>
              </a:lnSpc>
              <a:buFont typeface="Arial"/>
              <a:buChar char="•"/>
            </a:pPr>
            <a:r>
              <a:rPr lang="en-US" sz="3271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Use the same permutation key σₖ₁ to realign the trap-based block, extract the </a:t>
            </a:r>
          </a:p>
          <a:p>
            <a:pPr algn="just">
              <a:lnSpc>
                <a:spcPts val="4580"/>
              </a:lnSpc>
            </a:pPr>
            <a:r>
              <a:rPr lang="en-US" sz="3271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(n₂ + n₄) trap positions, and obtain |S_c⟩.</a:t>
            </a:r>
          </a:p>
          <a:p>
            <a:pPr algn="just">
              <a:lnSpc>
                <a:spcPts val="4580"/>
              </a:lnSpc>
            </a:pPr>
            <a:r>
              <a:rPr lang="en-US" sz="3271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4) Unified Verification</a:t>
            </a:r>
          </a:p>
          <a:p>
            <a:pPr algn="just" marL="706369" indent="-353184" lvl="1">
              <a:lnSpc>
                <a:spcPts val="4580"/>
              </a:lnSpc>
              <a:buFont typeface="Arial"/>
              <a:buChar char="•"/>
            </a:pPr>
            <a:r>
              <a:rPr lang="en-US" b="true" sz="3271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Check that QECC output and trap pattern match one composite structure,  ensuring |S⟩ and |S_c⟩ originate from the same encoded state.</a:t>
            </a:r>
          </a:p>
          <a:p>
            <a:pPr algn="just">
              <a:lnSpc>
                <a:spcPts val="458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4" y="1551161"/>
            <a:ext cx="16420554" cy="1216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971611" y="1650015"/>
            <a:ext cx="12344777" cy="7662260"/>
          </a:xfrm>
          <a:custGeom>
            <a:avLst/>
            <a:gdLst/>
            <a:ahLst/>
            <a:cxnLst/>
            <a:rect r="r" b="b" t="t" l="l"/>
            <a:pathLst>
              <a:path h="7662260" w="12344777">
                <a:moveTo>
                  <a:pt x="0" y="0"/>
                </a:moveTo>
                <a:lnTo>
                  <a:pt x="12344778" y="0"/>
                </a:lnTo>
                <a:lnTo>
                  <a:pt x="12344778" y="7662260"/>
                </a:lnTo>
                <a:lnTo>
                  <a:pt x="0" y="766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85" r="0" b="-205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983" y="346284"/>
            <a:ext cx="18082035" cy="98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1"/>
              </a:lnSpc>
            </a:pPr>
            <a:r>
              <a:rPr lang="en-US" b="true" sz="567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Reconstruction-1 vs Reconstruction-2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92286"/>
            <a:ext cx="18288000" cy="2549804"/>
            <a:chOff x="0" y="0"/>
            <a:chExt cx="4816593" cy="6715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4816593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4816593" cy="73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0"/>
                </a:lnSpc>
              </a:pP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5904" y="339400"/>
            <a:ext cx="3223285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146879" y="1443782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65904" y="1981508"/>
            <a:ext cx="12293431" cy="289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2"/>
              </a:lnSpc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Execution Time :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Block - 1 = 10.817 sec     - install qiskit &amp; qiskit - aer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Block - 2 = 121.736 sec   - Algorithm 6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Block - 3 = 0.416 sec       - Algorithm 2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Block - 4 = 2.979 sec       - Algorithm 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85" y="5086350"/>
            <a:ext cx="12293431" cy="61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Total Execution Time: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1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35.948 seconds  or 2.27 minutes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5904" y="339400"/>
            <a:ext cx="4591394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 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146879" y="1443782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395121" y="1642185"/>
            <a:ext cx="5679350" cy="3783745"/>
          </a:xfrm>
          <a:custGeom>
            <a:avLst/>
            <a:gdLst/>
            <a:ahLst/>
            <a:cxnLst/>
            <a:rect r="r" b="b" t="t" l="l"/>
            <a:pathLst>
              <a:path h="3783745" w="5679350">
                <a:moveTo>
                  <a:pt x="0" y="0"/>
                </a:moveTo>
                <a:lnTo>
                  <a:pt x="5679350" y="0"/>
                </a:lnTo>
                <a:lnTo>
                  <a:pt x="5679350" y="3783745"/>
                </a:lnTo>
                <a:lnTo>
                  <a:pt x="0" y="3783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95121" y="5390519"/>
            <a:ext cx="5783302" cy="3921756"/>
          </a:xfrm>
          <a:custGeom>
            <a:avLst/>
            <a:gdLst/>
            <a:ahLst/>
            <a:cxnLst/>
            <a:rect r="r" b="b" t="t" l="l"/>
            <a:pathLst>
              <a:path h="3921756" w="5783302">
                <a:moveTo>
                  <a:pt x="0" y="0"/>
                </a:moveTo>
                <a:lnTo>
                  <a:pt x="5783302" y="0"/>
                </a:lnTo>
                <a:lnTo>
                  <a:pt x="5783302" y="3921756"/>
                </a:lnTo>
                <a:lnTo>
                  <a:pt x="0" y="392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17795" y="1642185"/>
            <a:ext cx="5581485" cy="7616115"/>
          </a:xfrm>
          <a:custGeom>
            <a:avLst/>
            <a:gdLst/>
            <a:ahLst/>
            <a:cxnLst/>
            <a:rect r="r" b="b" t="t" l="l"/>
            <a:pathLst>
              <a:path h="7616115" w="5581485">
                <a:moveTo>
                  <a:pt x="0" y="0"/>
                </a:moveTo>
                <a:lnTo>
                  <a:pt x="5581485" y="0"/>
                </a:lnTo>
                <a:lnTo>
                  <a:pt x="5581485" y="7616115"/>
                </a:lnTo>
                <a:lnTo>
                  <a:pt x="0" y="7616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8359071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Tools &amp; Technologies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65904" y="1831321"/>
            <a:ext cx="8386227" cy="407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9"/>
              </a:lnSpc>
            </a:pPr>
            <a:r>
              <a:rPr lang="en-US" sz="2878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Implementation Platform</a:t>
            </a:r>
          </a:p>
          <a:p>
            <a:pPr algn="just" marL="621437" indent="-310719" lvl="1">
              <a:lnSpc>
                <a:spcPts val="4029"/>
              </a:lnSpc>
              <a:buFont typeface="Arial"/>
              <a:buChar char="•"/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Framework: Qiskit 2.2.3</a:t>
            </a:r>
          </a:p>
          <a:p>
            <a:pPr algn="just" marL="621437" indent="-310719" lvl="1">
              <a:lnSpc>
                <a:spcPts val="4029"/>
              </a:lnSpc>
              <a:buFont typeface="Arial"/>
              <a:buChar char="•"/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Quantum Backend: qiskit-aer (Version 0.17.2)</a:t>
            </a:r>
          </a:p>
          <a:p>
            <a:pPr algn="just" marL="621437" indent="-310719" lvl="1">
              <a:lnSpc>
                <a:spcPts val="4029"/>
              </a:lnSpc>
              <a:buFont typeface="Arial"/>
              <a:buChar char="•"/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Programming Language: Python 3.10</a:t>
            </a:r>
          </a:p>
          <a:p>
            <a:pPr algn="just" marL="621437" indent="-310719" lvl="1">
              <a:lnSpc>
                <a:spcPts val="4029"/>
              </a:lnSpc>
              <a:buFont typeface="Arial"/>
              <a:buChar char="•"/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Environment: Google Colab</a:t>
            </a:r>
          </a:p>
          <a:p>
            <a:pPr algn="just" marL="621437" indent="-310719" lvl="1">
              <a:lnSpc>
                <a:spcPts val="4029"/>
              </a:lnSpc>
              <a:buFont typeface="Arial"/>
              <a:buChar char="•"/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Supporting Libraries: NumPy, hashlib, pickle</a:t>
            </a:r>
          </a:p>
          <a:p>
            <a:pPr algn="just" marL="621437" indent="-310719" lvl="1">
              <a:lnSpc>
                <a:spcPts val="4029"/>
              </a:lnSpc>
              <a:buFont typeface="Arial"/>
              <a:buChar char="•"/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Simulator Used: AerSimulator (statevector mode)</a:t>
            </a:r>
          </a:p>
          <a:p>
            <a:pPr algn="just" marL="621437" indent="-310719" lvl="1">
              <a:lnSpc>
                <a:spcPts val="4029"/>
              </a:lnSpc>
              <a:buFont typeface="Arial"/>
              <a:buChar char="•"/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Total Execution Time: 135.948 seconds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4929" y="5977786"/>
            <a:ext cx="12727343" cy="307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9"/>
              </a:lnSpc>
            </a:pPr>
            <a:r>
              <a:rPr lang="en-US" sz="2878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Parameters Tested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 Input Types: Binary, ASCII, and Palindrome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• Secret Levels: 2 levels (8-bit normal secret + 6-bit covert secret)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• Reconstruction Technique: Galois Field GF(2¹³) for k₁ and k₂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• Verification: SHA-512 hashing and Shannon entropy indistinguishability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• Fidelity Check: Fidelity graph used for state-disturbance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1773" y="1831321"/>
            <a:ext cx="8386227" cy="256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9"/>
              </a:lnSpc>
            </a:pPr>
            <a:r>
              <a:rPr lang="en-US" sz="2878" b="true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Attack Models Evaluated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 Photon Nu</a:t>
            </a: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mber Splitting (PNS) attack detection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• Man-in-the-Middle (MITM) anomaly detection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• Trojan-Horse dimension-based intrusion detection</a:t>
            </a:r>
          </a:p>
          <a:p>
            <a:pPr algn="just">
              <a:lnSpc>
                <a:spcPts val="4029"/>
              </a:lnSpc>
            </a:pPr>
            <a:r>
              <a:rPr lang="en-US" sz="2878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• Intercept-Resend basis-matching deviation test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1146879" y="1443782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401526" y="6103856"/>
            <a:ext cx="5143535" cy="2782883"/>
          </a:xfrm>
          <a:custGeom>
            <a:avLst/>
            <a:gdLst/>
            <a:ahLst/>
            <a:cxnLst/>
            <a:rect r="r" b="b" t="t" l="l"/>
            <a:pathLst>
              <a:path h="2782883" w="5143535">
                <a:moveTo>
                  <a:pt x="0" y="0"/>
                </a:moveTo>
                <a:lnTo>
                  <a:pt x="5143535" y="0"/>
                </a:lnTo>
                <a:lnTo>
                  <a:pt x="5143535" y="2782883"/>
                </a:lnTo>
                <a:lnTo>
                  <a:pt x="0" y="2782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74776" y="6156855"/>
            <a:ext cx="6756972" cy="2676883"/>
          </a:xfrm>
          <a:custGeom>
            <a:avLst/>
            <a:gdLst/>
            <a:ahLst/>
            <a:cxnLst/>
            <a:rect r="r" b="b" t="t" l="l"/>
            <a:pathLst>
              <a:path h="2676883" w="6756972">
                <a:moveTo>
                  <a:pt x="0" y="0"/>
                </a:moveTo>
                <a:lnTo>
                  <a:pt x="6756972" y="0"/>
                </a:lnTo>
                <a:lnTo>
                  <a:pt x="6756972" y="2676884"/>
                </a:lnTo>
                <a:lnTo>
                  <a:pt x="0" y="2676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2587" y="270343"/>
            <a:ext cx="8341413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 &amp; Findings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5216" y="1741683"/>
            <a:ext cx="11929768" cy="404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Three input types processed: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Binary, ASCII, and Palindrome.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Four attack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scenarios evaluated with consistent system behavior.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Hashing applied using the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SHA-512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technique to ensure integrity.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Fidelity graph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generated confirming stable quantum-state performance.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overall execution time was </a:t>
            </a:r>
            <a:r>
              <a:rPr lang="en-US" b="true" sz="3216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135.948 seconds.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10780848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Influence on Future Research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435637"/>
            <a:ext cx="15406034" cy="404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Establishes a foundation for quantum anamorphic encrypt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ion as a deployable protocol.</a:t>
            </a:r>
          </a:p>
          <a:p>
            <a:pPr algn="just">
              <a:lnSpc>
                <a:spcPts val="4502"/>
              </a:lnSpc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Guides the design of scalable covert communication in dynamic quantum networks.</a:t>
            </a:r>
          </a:p>
          <a:p>
            <a:pPr algn="just">
              <a:lnSpc>
                <a:spcPts val="4502"/>
              </a:lnSpc>
            </a:pP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Inspires future work on spy-resilient, noise-tolerant quantum secret sharing protocols.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4929" y="595427"/>
            <a:ext cx="4247787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65904" y="1699809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62697" y="2157912"/>
            <a:ext cx="16562606" cy="584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5482" indent="-352741" lvl="1">
              <a:lnSpc>
                <a:spcPts val="4574"/>
              </a:lnSpc>
              <a:buFont typeface="Arial"/>
              <a:buChar char="•"/>
            </a:pPr>
            <a:r>
              <a:rPr lang="en-US" sz="3267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QAESS schemes rely on trap codes but do not use Galois field structures for efficient share generation.</a:t>
            </a:r>
          </a:p>
          <a:p>
            <a:pPr algn="just">
              <a:lnSpc>
                <a:spcPts val="4574"/>
              </a:lnSpc>
            </a:pPr>
          </a:p>
          <a:p>
            <a:pPr algn="just" marL="705482" indent="-352741" lvl="1">
              <a:lnSpc>
                <a:spcPts val="4574"/>
              </a:lnSpc>
              <a:buFont typeface="Arial"/>
              <a:buChar char="•"/>
            </a:pPr>
            <a:r>
              <a:rPr lang="en-US" sz="3267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Reconstruction through inverse operations enables dual-layer secret recovery while preserving quantum no-cloning constraints.</a:t>
            </a:r>
          </a:p>
          <a:p>
            <a:pPr algn="just">
              <a:lnSpc>
                <a:spcPts val="4574"/>
              </a:lnSpc>
            </a:pPr>
          </a:p>
          <a:p>
            <a:pPr algn="just" marL="705482" indent="-352741" lvl="1">
              <a:lnSpc>
                <a:spcPts val="4574"/>
              </a:lnSpc>
              <a:buFont typeface="Arial"/>
              <a:buChar char="•"/>
            </a:pPr>
            <a:r>
              <a:rPr lang="en-US" sz="3267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Trap-based covert extraction maintains zero dimensional overhead for hidden messages. </a:t>
            </a:r>
          </a:p>
          <a:p>
            <a:pPr algn="just">
              <a:lnSpc>
                <a:spcPts val="4574"/>
              </a:lnSpc>
            </a:pPr>
          </a:p>
          <a:p>
            <a:pPr algn="just" marL="705482" indent="-352741" lvl="1">
              <a:lnSpc>
                <a:spcPts val="4574"/>
              </a:lnSpc>
              <a:buFont typeface="Arial"/>
              <a:buChar char="•"/>
            </a:pPr>
            <a:r>
              <a:rPr lang="en-US" sz="3267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Generation-wise threshold verification ensues adaptive security against evolving adversarial threats. 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5904" y="339400"/>
            <a:ext cx="4591394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References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146879" y="1443782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1868430"/>
            <a:ext cx="15720630" cy="690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Chaudhury, S.S. and Ganguly, S., 2025. Construction of Quantum Anamorphic Evolving Dynamic Threshold Secret-Sharing Schemes. </a:t>
            </a: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IEEE Transactions on Communications.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Kutyłowski, M., Persiano, G., Phan, D.H., Yung, M. and Zawada, M., 2023, August. Anamorphic signatures: Secrecy from a dictator who only permits authentication!. In Annual International Cryptology Conference (pp. 759-790). Cham: Springer Nature Switzerland.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Banerjee, S., Pal, T., Rupp, A. and Slamanig, D., 2025. Simple Public Key Anamorphic Encryption and Signature using Multi-Message Extensions. Cryptology ePrint Archive.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Ganguly, S. and Chaudhury, S.S., 2025. Computational Quantum Anamorphic Encryption and Anamorphic Secret Sharing. Cryptology ePrint Archive..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12275"/>
            <a:ext cx="18288000" cy="2549804"/>
            <a:chOff x="0" y="0"/>
            <a:chExt cx="4816593" cy="671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71553"/>
            </a:xfrm>
            <a:custGeom>
              <a:avLst/>
              <a:gdLst/>
              <a:ahLst/>
              <a:cxnLst/>
              <a:rect r="r" b="b" t="t" l="l"/>
              <a:pathLst>
                <a:path h="671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71553"/>
                  </a:lnTo>
                  <a:lnTo>
                    <a:pt x="0" y="671553"/>
                  </a:lnTo>
                  <a:close/>
                </a:path>
              </a:pathLst>
            </a:custGeom>
            <a:solidFill>
              <a:srgbClr val="9D9DE4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16593" cy="80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41040"/>
            <a:ext cx="18288000" cy="2501050"/>
            <a:chOff x="0" y="0"/>
            <a:chExt cx="4816593" cy="65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58713"/>
            </a:xfrm>
            <a:custGeom>
              <a:avLst/>
              <a:gdLst/>
              <a:ahLst/>
              <a:cxnLst/>
              <a:rect r="r" b="b" t="t" l="l"/>
              <a:pathLst>
                <a:path h="6587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58713"/>
                  </a:lnTo>
                  <a:lnTo>
                    <a:pt x="0" y="658713"/>
                  </a:lnTo>
                  <a:close/>
                </a:path>
              </a:pathLst>
            </a:custGeom>
            <a:solidFill>
              <a:srgbClr val="615E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816593" cy="79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5904" y="339400"/>
            <a:ext cx="4591394" cy="110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54"/>
              </a:lnSpc>
            </a:pPr>
            <a:r>
              <a:rPr lang="en-US" b="true" sz="6385">
                <a:solidFill>
                  <a:srgbClr val="2D388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References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146879" y="1443782"/>
            <a:ext cx="16293396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65904" y="1981508"/>
            <a:ext cx="16007787" cy="461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Chu, H., Do, K., Hanzlik, L. and Thyagarajan, S.A., 2025. When Threshold Meets Anamorphic Signatures: What is Possible and What is Not!. Cryptology ePrint Archive.Banerjee, S., Pal, T., Rupp, A. and Slamanig, D., 2025. Simple Public Key Anamorphic Encryption and Signature using Multi-Message Extensions. Cryptology ePrint Archive.</a:t>
            </a:r>
          </a:p>
          <a:p>
            <a:pPr algn="just" marL="694362" indent="-347181" lvl="1">
              <a:lnSpc>
                <a:spcPts val="4502"/>
              </a:lnSpc>
              <a:buFont typeface="Arial"/>
              <a:buChar char="•"/>
            </a:pPr>
            <a:r>
              <a:rPr lang="en-US" sz="3216">
                <a:solidFill>
                  <a:srgbClr val="2D388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Senthoor, K. and Sarvepalli, P.K., 2022. Theory of communication efficient quantum secret sharing. IEEE Transactions on Information Theory, 68(5), pp.3164-3186.</a:t>
            </a:r>
          </a:p>
          <a:p>
            <a:pPr algn="just">
              <a:lnSpc>
                <a:spcPts val="450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DAG5tooouYE</dc:identifier>
  <dcterms:modified xsi:type="dcterms:W3CDTF">2011-08-01T06:04:30Z</dcterms:modified>
  <cp:revision>1</cp:revision>
  <dc:title>Minor Project </dc:title>
</cp:coreProperties>
</file>